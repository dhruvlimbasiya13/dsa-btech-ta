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83" r:id="rId2"/>
    <p:sldId id="444" r:id="rId3"/>
    <p:sldId id="435" r:id="rId4"/>
    <p:sldId id="451" r:id="rId5"/>
    <p:sldId id="449" r:id="rId6"/>
    <p:sldId id="450" r:id="rId7"/>
    <p:sldId id="452" r:id="rId8"/>
    <p:sldId id="453" r:id="rId9"/>
    <p:sldId id="457" r:id="rId10"/>
    <p:sldId id="454" r:id="rId11"/>
    <p:sldId id="455" r:id="rId12"/>
    <p:sldId id="456" r:id="rId13"/>
    <p:sldId id="458" r:id="rId14"/>
    <p:sldId id="447" r:id="rId15"/>
    <p:sldId id="459" r:id="rId16"/>
    <p:sldId id="448" r:id="rId17"/>
    <p:sldId id="366" r:id="rId18"/>
  </p:sldIdLst>
  <p:sldSz cx="12192000" cy="6858000"/>
  <p:notesSz cx="6858000" cy="9144000"/>
  <p:embeddedFontLst>
    <p:embeddedFont>
      <p:font typeface="Cascadia Mono" panose="020B0609020000020004" pitchFamily="49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Roboto Condensed" panose="02000000000000000000" pitchFamily="2" charset="0"/>
      <p:regular r:id="rId29"/>
      <p:bold r:id="rId30"/>
      <p:boldItalic r:id="rId31"/>
    </p:embeddedFont>
    <p:embeddedFont>
      <p:font typeface="Roboto Condensed Light" panose="02000000000000000000" pitchFamily="2" charset="0"/>
      <p:regular r:id="rId32"/>
    </p:embeddedFont>
    <p:embeddedFont>
      <p:font typeface="Wingdings 3" panose="05040102010807070707" pitchFamily="18" charset="2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0070C0"/>
    <a:srgbClr val="BC770B"/>
    <a:srgbClr val="9A3A3A"/>
    <a:srgbClr val="1D9A78"/>
    <a:srgbClr val="65A9D9"/>
    <a:srgbClr val="B5DED3"/>
    <a:srgbClr val="5C0000"/>
    <a:srgbClr val="F54337"/>
    <a:srgbClr val="ED5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03" autoAdjust="0"/>
    <p:restoredTop sz="96370" autoAdjust="0"/>
  </p:normalViewPr>
  <p:slideViewPr>
    <p:cSldViewPr snapToGrid="0">
      <p:cViewPr varScale="1">
        <p:scale>
          <a:sx n="89" d="100"/>
          <a:sy n="89" d="100"/>
        </p:scale>
        <p:origin x="6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1944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87FD0-6366-498E-B5AA-8D5EAADA1318}" type="datetimeFigureOut">
              <a:rPr lang="en-IN" smtClean="0"/>
              <a:t>21-08-26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5F676-4FC3-4D3C-BE37-3352AFB19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425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8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jpeg"/><Relationship Id="rId4" Type="http://schemas.openxmlformats.org/officeDocument/2006/relationships/image" Target="../media/image12.png"/><Relationship Id="rId9" Type="http://schemas.microsoft.com/office/2007/relationships/hdphoto" Target="../media/hdphoto1.wdp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1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853" y="2673461"/>
            <a:ext cx="4818221" cy="145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Darshan</a:t>
            </a:r>
            <a:r>
              <a:rPr lang="en-US" sz="1600" dirty="0"/>
              <a:t>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0762" y="307556"/>
            <a:ext cx="270404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DU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0" name="Hexagon 29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1D3064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1D3064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01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/>
          <p:cNvGrpSpPr/>
          <p:nvPr userDrawn="1"/>
        </p:nvGrpSpPr>
        <p:grpSpPr>
          <a:xfrm>
            <a:off x="9716596" y="886592"/>
            <a:ext cx="2554142" cy="587454"/>
            <a:chOff x="9424496" y="861192"/>
            <a:chExt cx="2554142" cy="587454"/>
          </a:xfrm>
        </p:grpSpPr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75018" y="861192"/>
              <a:ext cx="1932495" cy="587453"/>
            </a:xfrm>
            <a:prstGeom prst="rect">
              <a:avLst/>
            </a:prstGeom>
          </p:spPr>
        </p:pic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24496" y="8611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580" y="9015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4180" y="7239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9792796" y="58903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761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spcBef>
                <a:spcPts val="1000"/>
              </a:spcBef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/>
          <p:cNvGrpSpPr/>
          <p:nvPr userDrawn="1"/>
        </p:nvGrpSpPr>
        <p:grpSpPr>
          <a:xfrm>
            <a:off x="-62404" y="5890392"/>
            <a:ext cx="2554142" cy="587454"/>
            <a:chOff x="2423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918" y="5890392"/>
              <a:ext cx="1932495" cy="587453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2423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888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 userDrawn="1"/>
        </p:nvGrpSpPr>
        <p:grpSpPr>
          <a:xfrm>
            <a:off x="9818224" y="6087939"/>
            <a:ext cx="2554142" cy="650953"/>
            <a:chOff x="9437224" y="6087939"/>
            <a:chExt cx="2554142" cy="650953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8046" y="6151439"/>
              <a:ext cx="1932495" cy="587453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9437224" y="6087939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29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9726758" y="149992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 userDrawn="1"/>
        </p:nvGrpSpPr>
        <p:grpSpPr>
          <a:xfrm>
            <a:off x="9726758" y="6003345"/>
            <a:ext cx="2554142" cy="587454"/>
            <a:chOff x="9475296" y="5890392"/>
            <a:chExt cx="2554142" cy="587454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-249812" y="5977321"/>
            <a:ext cx="2554142" cy="587454"/>
            <a:chOff x="9475296" y="5890392"/>
            <a:chExt cx="2554142" cy="587454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24218" y="5890392"/>
              <a:ext cx="1932495" cy="587453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9475296" y="5890392"/>
              <a:ext cx="2554142" cy="587454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Dr.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Pradyumansinh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U.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Jadeja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 2301CS301(DS)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Unit 2 (Part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2)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– Linked List - Linear Data Structure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106364"/>
            <a:ext cx="11684000" cy="808037"/>
          </a:xfrm>
        </p:spPr>
        <p:txBody>
          <a:bodyPr>
            <a:normAutofit/>
          </a:bodyPr>
          <a:lstStyle>
            <a:lvl1pPr algn="l">
              <a:defRPr lang="en-US" sz="4400" b="0" kern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990600"/>
            <a:ext cx="11684000" cy="5334000"/>
          </a:xfrm>
        </p:spPr>
        <p:txBody>
          <a:bodyPr>
            <a:normAutofit/>
          </a:bodyPr>
          <a:lstStyle>
            <a:lvl1pPr marL="34290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04850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  <a:defRPr lang="en-US" sz="23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68375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2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239837" indent="-34290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2000" kern="1200" dirty="0" smtClean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454150" indent="-285750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defRPr lang="en-US" sz="1600" kern="1200" dirty="0">
                <a:solidFill>
                  <a:schemeClr val="tx1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342900" lvl="0" indent="-3429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marL="625475" lvl="1" indent="-263525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896938" lvl="2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•"/>
            </a:pPr>
            <a:r>
              <a:rPr lang="en-US" dirty="0"/>
              <a:t>Third level</a:t>
            </a:r>
          </a:p>
          <a:p>
            <a:pPr marL="1168400" lvl="3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–"/>
            </a:pPr>
            <a:r>
              <a:rPr lang="en-US" dirty="0"/>
              <a:t>Fourth level</a:t>
            </a:r>
          </a:p>
          <a:p>
            <a:pPr marL="1439863" lvl="4" indent="-271463" algn="just" defTabSz="914400" rtl="0" eaLnBrk="1" latinLnBrk="0" hangingPunct="1">
              <a:lnSpc>
                <a:spcPct val="90000"/>
              </a:lnSpc>
              <a:spcBef>
                <a:spcPts val="600"/>
              </a:spcBef>
              <a:buClrTx/>
              <a:buFont typeface="Arial" pitchFamily="34" charset="0"/>
              <a:buChar char="»"/>
            </a:pPr>
            <a:r>
              <a:rPr lang="en-US" dirty="0"/>
              <a:t>Fifth level</a:t>
            </a:r>
          </a:p>
        </p:txBody>
      </p:sp>
      <p:sp>
        <p:nvSpPr>
          <p:cNvPr id="5" name="Rektangel 11"/>
          <p:cNvSpPr/>
          <p:nvPr userDrawn="1"/>
        </p:nvSpPr>
        <p:spPr>
          <a:xfrm>
            <a:off x="0" y="6477000"/>
            <a:ext cx="5384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da-DK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Unit</a:t>
            </a:r>
            <a:r>
              <a:rPr lang="da-DK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– 2: </a:t>
            </a:r>
            <a:r>
              <a:rPr lang="en-US" sz="1800" dirty="0"/>
              <a:t>Linear Data Structure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4000" y="914400"/>
            <a:ext cx="1168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ktangel 11"/>
          <p:cNvSpPr/>
          <p:nvPr userDrawn="1"/>
        </p:nvSpPr>
        <p:spPr>
          <a:xfrm>
            <a:off x="6197600" y="6480727"/>
            <a:ext cx="59944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>
              <a:defRPr/>
            </a:pPr>
            <a:r>
              <a:rPr lang="en-US" sz="180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Darshan</a:t>
            </a:r>
            <a:r>
              <a:rPr lang="en-US" sz="1800" baseline="0" noProof="1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t> Institute of Engineering &amp; Technology</a:t>
            </a:r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0" name="Rektangel 11"/>
          <p:cNvSpPr/>
          <p:nvPr userDrawn="1"/>
        </p:nvSpPr>
        <p:spPr>
          <a:xfrm>
            <a:off x="5384800" y="6477000"/>
            <a:ext cx="812800" cy="381000"/>
          </a:xfrm>
          <a:prstGeom prst="rect">
            <a:avLst/>
          </a:prstGeom>
          <a:solidFill>
            <a:srgbClr val="34495E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indent="-342900" algn="ctr">
              <a:defRPr/>
            </a:pPr>
            <a:fld id="{4CCBBDC9-ADEB-48F3-A42C-1AD0249F062A}" type="slidenum">
              <a:rPr lang="da-DK" sz="1800" noProof="1" smtClean="0">
                <a:solidFill>
                  <a:srgbClr val="FFFFFF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rPr>
              <a:pPr indent="-342900" algn="ctr">
                <a:defRPr/>
              </a:pPr>
              <a:t>‹#›</a:t>
            </a:fld>
            <a:endParaRPr lang="da-DK" sz="1800" noProof="1">
              <a:solidFill>
                <a:srgbClr val="FFFFFF"/>
              </a:solidFill>
              <a:latin typeface="+mj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5711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8BEFB-AE5B-48F9-BBAD-B489CDE48C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638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3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  <p:sldLayoutId id="2147483694" r:id="rId23"/>
    <p:sldLayoutId id="2147483695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60510" cy="2563094"/>
          </a:xfrm>
        </p:spPr>
        <p:txBody>
          <a:bodyPr/>
          <a:lstStyle/>
          <a:p>
            <a:r>
              <a:rPr lang="en-US" sz="6000" dirty="0"/>
              <a:t>Tree Lab 21</a:t>
            </a:r>
            <a:br>
              <a:rPr lang="en-US" sz="6000" dirty="0"/>
            </a:br>
            <a:r>
              <a:rPr lang="en-US" sz="6000" b="0" dirty="0"/>
              <a:t>Data Structure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Dr. </a:t>
            </a:r>
            <a:r>
              <a:rPr lang="en-US" dirty="0" err="1"/>
              <a:t>Pradyumansinh</a:t>
            </a:r>
            <a:r>
              <a:rPr lang="en-US" dirty="0"/>
              <a:t> </a:t>
            </a:r>
            <a:r>
              <a:rPr lang="en-US" dirty="0" err="1"/>
              <a:t>Jadeja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5D476-F5AB-9CAA-3488-CE6A7246C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Basic knowledge of BST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EA076-3781-649E-4A5E-EF34C5DE7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What is a Binary Search Tree?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/>
              <a:t>Binary Search Tree (BST)</a:t>
            </a:r>
            <a:r>
              <a:rPr lang="en-GB" dirty="0"/>
              <a:t> is a type of binary tree in which each node contains at most </a:t>
            </a:r>
            <a:r>
              <a:rPr lang="en-GB" b="1" dirty="0"/>
              <a:t>two    children</a:t>
            </a:r>
            <a:r>
              <a:rPr lang="en-GB" dirty="0"/>
              <a:t> and follows a specific ordering rule.</a:t>
            </a:r>
          </a:p>
          <a:p>
            <a:endParaRPr lang="en-GB" dirty="0"/>
          </a:p>
          <a:p>
            <a:r>
              <a:rPr lang="en-GB" b="1" dirty="0"/>
              <a:t>BST Property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left subtree</a:t>
            </a:r>
            <a:r>
              <a:rPr lang="en-GB" dirty="0"/>
              <a:t> have values </a:t>
            </a:r>
            <a:r>
              <a:rPr lang="en-GB" b="1" dirty="0"/>
              <a:t>less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All nodes in the </a:t>
            </a:r>
            <a:r>
              <a:rPr lang="en-GB" b="1" dirty="0"/>
              <a:t>right subtree</a:t>
            </a:r>
            <a:r>
              <a:rPr lang="en-GB" dirty="0"/>
              <a:t> have values </a:t>
            </a:r>
            <a:r>
              <a:rPr lang="en-GB" b="1" dirty="0"/>
              <a:t>greater than</a:t>
            </a:r>
            <a:r>
              <a:rPr lang="en-GB" dirty="0"/>
              <a:t> the parent node. </a:t>
            </a:r>
          </a:p>
          <a:p>
            <a:pPr marL="0" indent="0">
              <a:buNone/>
            </a:pPr>
            <a:r>
              <a:rPr lang="en-GB" dirty="0"/>
              <a:t>   Both the left and right subtrees are themselves Binary Search Trees.</a:t>
            </a:r>
            <a:endParaRPr lang="en-GB" b="1" dirty="0"/>
          </a:p>
          <a:p>
            <a:r>
              <a:rPr lang="en-IN" b="1" dirty="0"/>
              <a:t>Binary Tree vs BST</a:t>
            </a:r>
          </a:p>
          <a:p>
            <a:pPr marL="0" indent="0">
              <a:buNone/>
            </a:pPr>
            <a:r>
              <a:rPr lang="en-IN" b="1" dirty="0"/>
              <a:t>    </a:t>
            </a:r>
            <a:r>
              <a:rPr lang="en-GB" dirty="0"/>
              <a:t>A </a:t>
            </a:r>
            <a:r>
              <a:rPr lang="en-GB" b="1" dirty="0"/>
              <a:t>binary tree</a:t>
            </a:r>
            <a:r>
              <a:rPr lang="en-GB" dirty="0"/>
              <a:t>                  each node has at most two children, </a:t>
            </a:r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b="1" dirty="0"/>
              <a:t>BST </a:t>
            </a:r>
            <a:r>
              <a:rPr lang="en-GB" dirty="0"/>
              <a:t>                 Type of binary tree                       left child &lt; parent  AND  right child &gt; parent</a:t>
            </a:r>
            <a:endParaRPr lang="en-IN" b="1" dirty="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B0379549-5BC7-0D4B-F399-A2D8205768AB}"/>
              </a:ext>
            </a:extLst>
          </p:cNvPr>
          <p:cNvSpPr/>
          <p:nvPr/>
        </p:nvSpPr>
        <p:spPr>
          <a:xfrm>
            <a:off x="2214282" y="4903694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68B2909-AF38-69CE-2136-5828556C1519}"/>
              </a:ext>
            </a:extLst>
          </p:cNvPr>
          <p:cNvSpPr/>
          <p:nvPr/>
        </p:nvSpPr>
        <p:spPr>
          <a:xfrm>
            <a:off x="1030941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903C5869-B423-64D6-065A-3F598BB22F35}"/>
              </a:ext>
            </a:extLst>
          </p:cNvPr>
          <p:cNvSpPr/>
          <p:nvPr/>
        </p:nvSpPr>
        <p:spPr>
          <a:xfrm>
            <a:off x="4697505" y="5334000"/>
            <a:ext cx="978408" cy="3137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157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B82DE4A-774B-8DD8-3FC4-4107241F4742}"/>
              </a:ext>
            </a:extLst>
          </p:cNvPr>
          <p:cNvSpPr/>
          <p:nvPr/>
        </p:nvSpPr>
        <p:spPr>
          <a:xfrm>
            <a:off x="535855" y="1658471"/>
            <a:ext cx="5504328" cy="3541058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F85AE3-EA49-73C8-B52B-98AA32FE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TreeNode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F4002-5B13-0A31-5981-B9CCC958A5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76144"/>
            <a:ext cx="5964820" cy="5590565"/>
          </a:xfrm>
        </p:spPr>
        <p:txBody>
          <a:bodyPr/>
          <a:lstStyle/>
          <a:p>
            <a:r>
              <a:rPr lang="en-GB" sz="2800" dirty="0"/>
              <a:t>C structure to represent a node </a:t>
            </a:r>
            <a:endParaRPr lang="en-IN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8E727F-4506-C476-E3E5-5722269CEC34}"/>
              </a:ext>
            </a:extLst>
          </p:cNvPr>
          <p:cNvSpPr txBox="1"/>
          <p:nvPr/>
        </p:nvSpPr>
        <p:spPr>
          <a:xfrm>
            <a:off x="533899" y="1825042"/>
            <a:ext cx="5508239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{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char</a:t>
            </a:r>
            <a:r>
              <a:rPr lang="en-GB" sz="2800" b="1" dirty="0">
                <a:latin typeface="Consolas" panose="020B0609020204030204" pitchFamily="49" charset="0"/>
              </a:rPr>
              <a:t> name[100];</a:t>
            </a:r>
          </a:p>
          <a:p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    char</a:t>
            </a:r>
            <a:r>
              <a:rPr lang="en-GB" sz="2800" b="1" dirty="0">
                <a:latin typeface="Consolas" panose="020B0609020204030204" pitchFamily="49" charset="0"/>
              </a:rPr>
              <a:t> phone[20];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left;</a:t>
            </a:r>
          </a:p>
          <a:p>
            <a:r>
              <a:rPr lang="en-GB" sz="2800" b="1" dirty="0">
                <a:latin typeface="Consolas" panose="020B0609020204030204" pitchFamily="49" charset="0"/>
              </a:rPr>
              <a:t>    </a:t>
            </a:r>
            <a:r>
              <a:rPr lang="en-GB" sz="2800" b="1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GB" sz="2800" b="1" dirty="0">
                <a:latin typeface="Consolas" panose="020B0609020204030204" pitchFamily="49" charset="0"/>
              </a:rPr>
              <a:t> </a:t>
            </a:r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sz="2800" b="1" dirty="0">
                <a:latin typeface="Consolas" panose="020B0609020204030204" pitchFamily="49" charset="0"/>
              </a:rPr>
              <a:t>* right;</a:t>
            </a:r>
          </a:p>
          <a:p>
            <a:endParaRPr lang="en-GB" sz="2800" b="1" dirty="0">
              <a:latin typeface="Consolas" panose="020B0609020204030204" pitchFamily="49" charset="0"/>
            </a:endParaRPr>
          </a:p>
          <a:p>
            <a:r>
              <a:rPr lang="en-GB" sz="2800" b="1" dirty="0">
                <a:latin typeface="Consolas" panose="020B0609020204030204" pitchFamily="49" charset="0"/>
              </a:rPr>
              <a:t>};</a:t>
            </a:r>
          </a:p>
          <a:p>
            <a:endParaRPr lang="en-IN" sz="2800" b="1" dirty="0">
              <a:latin typeface="Consolas" panose="020B0609020204030204" pitchFamily="49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DFF3F15-7920-FAA2-15C3-DD918F5A43CD}"/>
              </a:ext>
            </a:extLst>
          </p:cNvPr>
          <p:cNvSpPr txBox="1">
            <a:spLocks/>
          </p:cNvSpPr>
          <p:nvPr/>
        </p:nvSpPr>
        <p:spPr>
          <a:xfrm>
            <a:off x="6096000" y="794267"/>
            <a:ext cx="5964820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B225A-8285-20C0-CA1E-B22FA905E043}"/>
              </a:ext>
            </a:extLst>
          </p:cNvPr>
          <p:cNvSpPr/>
          <p:nvPr/>
        </p:nvSpPr>
        <p:spPr>
          <a:xfrm>
            <a:off x="6400333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left</a:t>
            </a:r>
            <a:endParaRPr lang="en-US" sz="2400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E8E8BB-1C84-73A8-4C09-C1A6130529C3}"/>
              </a:ext>
            </a:extLst>
          </p:cNvPr>
          <p:cNvSpPr/>
          <p:nvPr/>
        </p:nvSpPr>
        <p:spPr>
          <a:xfrm>
            <a:off x="8091515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name</a:t>
            </a:r>
            <a:endParaRPr lang="en-US" sz="2400" b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D449BC-CDB9-5766-8795-88E34B71474D}"/>
              </a:ext>
            </a:extLst>
          </p:cNvPr>
          <p:cNvSpPr/>
          <p:nvPr/>
        </p:nvSpPr>
        <p:spPr>
          <a:xfrm>
            <a:off x="10243761" y="2456329"/>
            <a:ext cx="1691182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right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10512F-4969-0B7D-0EC1-02FCD1B2D275}"/>
              </a:ext>
            </a:extLst>
          </p:cNvPr>
          <p:cNvSpPr txBox="1"/>
          <p:nvPr/>
        </p:nvSpPr>
        <p:spPr>
          <a:xfrm>
            <a:off x="6364914" y="1891576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endParaRPr lang="en-IN" sz="28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AD51F5-683F-A885-1724-0A31AAB5820A}"/>
              </a:ext>
            </a:extLst>
          </p:cNvPr>
          <p:cNvSpPr/>
          <p:nvPr/>
        </p:nvSpPr>
        <p:spPr>
          <a:xfrm>
            <a:off x="9167638" y="2456329"/>
            <a:ext cx="1076123" cy="8314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phone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439257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AA5595F-06FF-5F3F-69BF-4AEA9FE81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US" dirty="0"/>
              <a:t>Create Entry</a:t>
            </a:r>
            <a:endParaRPr lang="en-IN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91641B-DD0B-2EE5-CBA4-7278FA6766BD}"/>
              </a:ext>
            </a:extLst>
          </p:cNvPr>
          <p:cNvCxnSpPr/>
          <p:nvPr/>
        </p:nvCxnSpPr>
        <p:spPr>
          <a:xfrm>
            <a:off x="5083140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E943502-EC8A-89DB-253D-42EAAA5205A8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35705-802E-FF79-998D-FDA6B27F0DB7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EFFCD59-5568-0FA5-3447-A3FF78DB4958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C7D9DDE-7F6B-5F68-5737-D3DC4D4517E8}"/>
              </a:ext>
            </a:extLst>
          </p:cNvPr>
          <p:cNvSpPr txBox="1"/>
          <p:nvPr/>
        </p:nvSpPr>
        <p:spPr>
          <a:xfrm>
            <a:off x="112143" y="2047162"/>
            <a:ext cx="496881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[Allocate Memory]</a:t>
            </a:r>
          </a:p>
          <a:p>
            <a:pPr marL="0" indent="0">
              <a:buNone/>
            </a:pPr>
            <a:r>
              <a:rPr lang="en-IN" spc="-150" dirty="0">
                <a:latin typeface="Consolas" panose="020B0609020204030204" pitchFamily="49" charset="0"/>
              </a:rPr>
              <a:t>Allocate memory for a new node using </a:t>
            </a:r>
            <a:r>
              <a:rPr lang="en-IN" spc="-150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spc="-150" dirty="0">
                <a:latin typeface="Consolas" panose="020B0609020204030204" pitchFamily="49" charset="0"/>
              </a:rPr>
              <a:t>().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DED5C-354D-F564-1FB3-CEE7002FC362}"/>
              </a:ext>
            </a:extLst>
          </p:cNvPr>
          <p:cNvSpPr txBox="1"/>
          <p:nvPr/>
        </p:nvSpPr>
        <p:spPr>
          <a:xfrm>
            <a:off x="64390" y="3001840"/>
            <a:ext cx="382612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[Store Data]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name(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) ← name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phone(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) ← phone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2E8DA5-619E-F639-35A6-4521EFA9DC07}"/>
              </a:ext>
            </a:extLst>
          </p:cNvPr>
          <p:cNvSpPr txBox="1"/>
          <p:nvPr/>
        </p:nvSpPr>
        <p:spPr>
          <a:xfrm>
            <a:off x="112143" y="4084368"/>
            <a:ext cx="3778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Left Pointer]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  left(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) ←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2D34D4-E642-A8D3-31C8-785654C3AC7B}"/>
              </a:ext>
            </a:extLst>
          </p:cNvPr>
          <p:cNvSpPr txBox="1"/>
          <p:nvPr/>
        </p:nvSpPr>
        <p:spPr>
          <a:xfrm>
            <a:off x="64390" y="4924956"/>
            <a:ext cx="40762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[Initialize Right Pointer]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  right(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) ←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EA500E-9B05-7D8E-CCF5-CBCC1A9C3693}"/>
              </a:ext>
            </a:extLst>
          </p:cNvPr>
          <p:cNvSpPr txBox="1"/>
          <p:nvPr/>
        </p:nvSpPr>
        <p:spPr>
          <a:xfrm>
            <a:off x="112143" y="5779016"/>
            <a:ext cx="33729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[Return the Node]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   Return 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endParaRPr lang="en-IN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6A707F-6206-38D6-F97B-5F758B893A53}"/>
              </a:ext>
            </a:extLst>
          </p:cNvPr>
          <p:cNvSpPr txBox="1"/>
          <p:nvPr/>
        </p:nvSpPr>
        <p:spPr>
          <a:xfrm>
            <a:off x="5121387" y="1706780"/>
            <a:ext cx="61937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name, phone</a:t>
            </a:r>
            <a:r>
              <a:rPr lang="en-IN" dirty="0">
                <a:latin typeface="Consolas" panose="020B0609020204030204" pitchFamily="49" charset="0"/>
              </a:rPr>
              <a:t>){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27224A-9F35-17C2-C5A6-0D5155D93BCE}"/>
              </a:ext>
            </a:extLst>
          </p:cNvPr>
          <p:cNvSpPr/>
          <p:nvPr/>
        </p:nvSpPr>
        <p:spPr>
          <a:xfrm>
            <a:off x="5080958" y="1296086"/>
            <a:ext cx="6779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to create a new node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0D4CF2-319D-BEB9-3521-E2C776C09F1E}"/>
              </a:ext>
            </a:extLst>
          </p:cNvPr>
          <p:cNvSpPr txBox="1"/>
          <p:nvPr/>
        </p:nvSpPr>
        <p:spPr>
          <a:xfrm>
            <a:off x="5469146" y="2117474"/>
            <a:ext cx="67793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*)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malloc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solidFill>
                  <a:schemeClr val="tx2"/>
                </a:solidFill>
                <a:latin typeface="Consolas" panose="020B0609020204030204" pitchFamily="49" charset="0"/>
              </a:rPr>
              <a:t>sizeof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146E4F-FDBE-4F67-0AD7-F2175A10DD0D}"/>
              </a:ext>
            </a:extLst>
          </p:cNvPr>
          <p:cNvSpPr txBox="1"/>
          <p:nvPr/>
        </p:nvSpPr>
        <p:spPr>
          <a:xfrm>
            <a:off x="5469147" y="3105507"/>
            <a:ext cx="37007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latin typeface="Consolas" panose="020B0609020204030204" pitchFamily="49" charset="0"/>
              </a:rPr>
              <a:t>&gt;name = name;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latin typeface="Consolas" panose="020B0609020204030204" pitchFamily="49" charset="0"/>
              </a:rPr>
              <a:t>&gt;phone = phone;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50D2CA-E55E-12FC-86EC-72C97F15C114}"/>
              </a:ext>
            </a:extLst>
          </p:cNvPr>
          <p:cNvSpPr txBox="1"/>
          <p:nvPr/>
        </p:nvSpPr>
        <p:spPr>
          <a:xfrm>
            <a:off x="5469147" y="4022812"/>
            <a:ext cx="2829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latin typeface="Consolas" panose="020B0609020204030204" pitchFamily="49" charset="0"/>
              </a:rPr>
              <a:t>&gt;left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ECC543-E75D-8C8B-0992-A582A818BE89}"/>
              </a:ext>
            </a:extLst>
          </p:cNvPr>
          <p:cNvSpPr txBox="1"/>
          <p:nvPr/>
        </p:nvSpPr>
        <p:spPr>
          <a:xfrm>
            <a:off x="5469147" y="4944554"/>
            <a:ext cx="2967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-</a:t>
            </a:r>
            <a:r>
              <a:rPr lang="en-IN" dirty="0">
                <a:latin typeface="Consolas" panose="020B0609020204030204" pitchFamily="49" charset="0"/>
              </a:rPr>
              <a:t>&gt;right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C467F0-C65A-CE28-1D29-ED36DF3F1895}"/>
              </a:ext>
            </a:extLst>
          </p:cNvPr>
          <p:cNvSpPr txBox="1"/>
          <p:nvPr/>
        </p:nvSpPr>
        <p:spPr>
          <a:xfrm>
            <a:off x="5469147" y="5797586"/>
            <a:ext cx="2415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6"/>
                </a:solidFill>
                <a:latin typeface="Consolas" panose="020B0609020204030204" pitchFamily="49" charset="0"/>
              </a:rPr>
              <a:t>newNode</a:t>
            </a:r>
            <a:r>
              <a:rPr lang="en-IN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95E04A-B7E8-7479-093F-7F79C145AEC7}"/>
              </a:ext>
            </a:extLst>
          </p:cNvPr>
          <p:cNvSpPr/>
          <p:nvPr/>
        </p:nvSpPr>
        <p:spPr>
          <a:xfrm>
            <a:off x="112142" y="2061582"/>
            <a:ext cx="11895827" cy="88172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406BE9B-8B2E-1C68-A47E-4AC66E43228A}"/>
              </a:ext>
            </a:extLst>
          </p:cNvPr>
          <p:cNvSpPr/>
          <p:nvPr/>
        </p:nvSpPr>
        <p:spPr>
          <a:xfrm>
            <a:off x="112143" y="3016379"/>
            <a:ext cx="11477002" cy="86262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0C70715-7DB4-51D2-F56E-5D24D271C5BE}"/>
              </a:ext>
            </a:extLst>
          </p:cNvPr>
          <p:cNvSpPr/>
          <p:nvPr/>
        </p:nvSpPr>
        <p:spPr>
          <a:xfrm>
            <a:off x="112143" y="4046411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599EB72-8515-FAAE-6D6E-F211BFF2883A}"/>
              </a:ext>
            </a:extLst>
          </p:cNvPr>
          <p:cNvSpPr/>
          <p:nvPr/>
        </p:nvSpPr>
        <p:spPr>
          <a:xfrm>
            <a:off x="112143" y="4892611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72AB7FE-260B-B2AE-678F-77825CEF8812}"/>
              </a:ext>
            </a:extLst>
          </p:cNvPr>
          <p:cNvSpPr/>
          <p:nvPr/>
        </p:nvSpPr>
        <p:spPr>
          <a:xfrm>
            <a:off x="112143" y="5735051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6908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02312D2-B197-6A0E-0192-843F39A06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Insert in Phonebook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B83130-BCAE-5254-3DE1-229D12BFF46A}"/>
              </a:ext>
            </a:extLst>
          </p:cNvPr>
          <p:cNvCxnSpPr/>
          <p:nvPr/>
        </p:nvCxnSpPr>
        <p:spPr>
          <a:xfrm>
            <a:off x="5712866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496A7D-2317-222B-2F2E-A297425D13F9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50798-E68A-D03A-8042-DDFD765EBA61}"/>
              </a:ext>
            </a:extLst>
          </p:cNvPr>
          <p:cNvSpPr txBox="1"/>
          <p:nvPr/>
        </p:nvSpPr>
        <p:spPr>
          <a:xfrm>
            <a:off x="659216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130CF86-FDAF-92C8-37B7-C8EEAD45A444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A8B13A1-57D6-4A06-39A0-D4E1A569917F}"/>
              </a:ext>
            </a:extLst>
          </p:cNvPr>
          <p:cNvSpPr txBox="1"/>
          <p:nvPr/>
        </p:nvSpPr>
        <p:spPr>
          <a:xfrm>
            <a:off x="17252" y="2230246"/>
            <a:ext cx="4487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root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dirty="0">
                <a:latin typeface="Consolas" panose="020B0609020204030204" pitchFamily="49" charset="0"/>
              </a:rPr>
              <a:t>(name, phone)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8D4A43-1245-FAE5-C4F9-B5C3462C9B70}"/>
              </a:ext>
            </a:extLst>
          </p:cNvPr>
          <p:cNvSpPr txBox="1"/>
          <p:nvPr/>
        </p:nvSpPr>
        <p:spPr>
          <a:xfrm>
            <a:off x="5749509" y="1583915"/>
            <a:ext cx="6525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root, 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char[] name, char[] phone</a:t>
            </a:r>
            <a:r>
              <a:rPr lang="en-IN" dirty="0">
                <a:latin typeface="Consolas" panose="020B0609020204030204" pitchFamily="49" charset="0"/>
              </a:rPr>
              <a:t>){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45F12A0-144F-AC50-479F-4EDE79AC418A}"/>
              </a:ext>
            </a:extLst>
          </p:cNvPr>
          <p:cNvSpPr/>
          <p:nvPr/>
        </p:nvSpPr>
        <p:spPr>
          <a:xfrm>
            <a:off x="5756000" y="1214583"/>
            <a:ext cx="6779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to insert a node in tree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372EBB-F474-776C-DD65-B5CBBC698EC7}"/>
              </a:ext>
            </a:extLst>
          </p:cNvPr>
          <p:cNvSpPr txBox="1"/>
          <p:nvPr/>
        </p:nvSpPr>
        <p:spPr>
          <a:xfrm>
            <a:off x="6452564" y="2350152"/>
            <a:ext cx="513271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(root ==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){                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createNode</a:t>
            </a:r>
            <a:r>
              <a:rPr lang="en-IN" dirty="0">
                <a:latin typeface="Consolas" panose="020B0609020204030204" pitchFamily="49" charset="0"/>
              </a:rPr>
              <a:t>(name, phone);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C24B84-3F88-D6A4-8451-1A29E08CD11B}"/>
              </a:ext>
            </a:extLst>
          </p:cNvPr>
          <p:cNvSpPr/>
          <p:nvPr/>
        </p:nvSpPr>
        <p:spPr>
          <a:xfrm>
            <a:off x="77638" y="2266437"/>
            <a:ext cx="11416615" cy="120032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13256F-6355-A163-28A9-2CFAC2BA3AB2}"/>
              </a:ext>
            </a:extLst>
          </p:cNvPr>
          <p:cNvSpPr txBox="1"/>
          <p:nvPr/>
        </p:nvSpPr>
        <p:spPr>
          <a:xfrm>
            <a:off x="77638" y="3804897"/>
            <a:ext cx="574519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[Compare the Value]</a:t>
            </a:r>
            <a:endParaRPr lang="en-IN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Left Subtree]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name &lt; name(root)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 ←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2EA592C-2988-F9B7-B376-ED5AEA888089}"/>
              </a:ext>
            </a:extLst>
          </p:cNvPr>
          <p:cNvSpPr txBox="1"/>
          <p:nvPr/>
        </p:nvSpPr>
        <p:spPr>
          <a:xfrm>
            <a:off x="5822829" y="3804897"/>
            <a:ext cx="506370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strcmp</a:t>
            </a:r>
            <a:r>
              <a:rPr lang="en-IN" dirty="0">
                <a:latin typeface="Consolas" panose="020B0609020204030204" pitchFamily="49" charset="0"/>
              </a:rPr>
              <a:t>(name, root-&gt;name)&lt;0){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AB736C-BC78-EA02-A0AA-A6EA7E9670CC}"/>
              </a:ext>
            </a:extLst>
          </p:cNvPr>
          <p:cNvSpPr/>
          <p:nvPr/>
        </p:nvSpPr>
        <p:spPr>
          <a:xfrm>
            <a:off x="114521" y="3804897"/>
            <a:ext cx="11416615" cy="147732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576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B712E-911C-7DCD-6C7A-89C7125C5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C3DC89-E08F-B6E6-A67C-74A282252992}"/>
              </a:ext>
            </a:extLst>
          </p:cNvPr>
          <p:cNvCxnSpPr>
            <a:cxnSpLocks/>
          </p:cNvCxnSpPr>
          <p:nvPr/>
        </p:nvCxnSpPr>
        <p:spPr>
          <a:xfrm>
            <a:off x="6023416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9F6F761-8BEF-59E6-C4BC-43BB89C2A684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007806-E7CF-8226-8458-7CEF6F3E40BC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2763DB-E10A-2436-1826-271BF82DF15C}"/>
              </a:ext>
            </a:extLst>
          </p:cNvPr>
          <p:cNvCxnSpPr>
            <a:cxnSpLocks/>
          </p:cNvCxnSpPr>
          <p:nvPr/>
        </p:nvCxnSpPr>
        <p:spPr>
          <a:xfrm>
            <a:off x="0" y="1230594"/>
            <a:ext cx="12765524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6C8DF8-D388-FE3C-F465-4899FEDD59F4}"/>
              </a:ext>
            </a:extLst>
          </p:cNvPr>
          <p:cNvSpPr txBox="1"/>
          <p:nvPr/>
        </p:nvSpPr>
        <p:spPr>
          <a:xfrm>
            <a:off x="17251" y="1583266"/>
            <a:ext cx="595222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[Insert into Right Subtree]</a:t>
            </a:r>
          </a:p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 ←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F9F663-1809-070F-61EA-F8691A187616}"/>
              </a:ext>
            </a:extLst>
          </p:cNvPr>
          <p:cNvSpPr txBox="1"/>
          <p:nvPr/>
        </p:nvSpPr>
        <p:spPr>
          <a:xfrm>
            <a:off x="6676850" y="1547898"/>
            <a:ext cx="48394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r>
              <a:rPr lang="en-IN" dirty="0">
                <a:latin typeface="Consolas" panose="020B0609020204030204" pitchFamily="49" charset="0"/>
              </a:rPr>
              <a:t>     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 =</a:t>
            </a:r>
          </a:p>
          <a:p>
            <a:r>
              <a:rPr lang="en-IN" dirty="0">
                <a:latin typeface="Consolas" panose="020B0609020204030204" pitchFamily="49" charset="0"/>
              </a:rPr>
              <a:t>	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insertNode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r>
              <a:rPr lang="en-IN" dirty="0"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4945D5-BAFC-BA27-00B3-7F739EB93DF0}"/>
              </a:ext>
            </a:extLst>
          </p:cNvPr>
          <p:cNvSpPr/>
          <p:nvPr/>
        </p:nvSpPr>
        <p:spPr>
          <a:xfrm>
            <a:off x="77638" y="1490062"/>
            <a:ext cx="11990547" cy="125816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AC88F8-F661-D633-F0F0-8C2761E8DC06}"/>
              </a:ext>
            </a:extLst>
          </p:cNvPr>
          <p:cNvSpPr txBox="1"/>
          <p:nvPr/>
        </p:nvSpPr>
        <p:spPr>
          <a:xfrm>
            <a:off x="77639" y="3804897"/>
            <a:ext cx="30077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[Return Updated Tree]</a:t>
            </a:r>
          </a:p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root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830F4E6-E2B4-B3A0-B773-9B8A0767FEB7}"/>
              </a:ext>
            </a:extLst>
          </p:cNvPr>
          <p:cNvSpPr txBox="1"/>
          <p:nvPr/>
        </p:nvSpPr>
        <p:spPr>
          <a:xfrm>
            <a:off x="6168585" y="3804897"/>
            <a:ext cx="30185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    return</a:t>
            </a:r>
            <a:r>
              <a:rPr lang="en-IN" dirty="0">
                <a:latin typeface="Consolas" panose="020B0609020204030204" pitchFamily="49" charset="0"/>
              </a:rPr>
              <a:t> root;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B6E912-1002-CDB0-2D96-706E0BAC0EC3}"/>
              </a:ext>
            </a:extLst>
          </p:cNvPr>
          <p:cNvSpPr/>
          <p:nvPr/>
        </p:nvSpPr>
        <p:spPr>
          <a:xfrm>
            <a:off x="114521" y="3804897"/>
            <a:ext cx="11953664" cy="70788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735940-132D-FFCB-E807-221B1FFB6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>
            <a:normAutofit/>
          </a:bodyPr>
          <a:lstStyle/>
          <a:p>
            <a:r>
              <a:rPr lang="en-IN" dirty="0"/>
              <a:t>Insert in Phonebook(continued)</a:t>
            </a:r>
          </a:p>
        </p:txBody>
      </p:sp>
    </p:spTree>
    <p:extLst>
      <p:ext uri="{BB962C8B-B14F-4D97-AF65-F5344CB8AC3E}">
        <p14:creationId xmlns:p14="http://schemas.microsoft.com/office/powerpoint/2010/main" val="1902564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1D46C-6E55-8770-DB1B-8D1D6398A976}"/>
              </a:ext>
            </a:extLst>
          </p:cNvPr>
          <p:cNvCxnSpPr>
            <a:cxnSpLocks/>
          </p:cNvCxnSpPr>
          <p:nvPr/>
        </p:nvCxnSpPr>
        <p:spPr>
          <a:xfrm>
            <a:off x="5557571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EC0F8BF-97AC-51C4-F1CD-E4ABDDF92E74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730486-2E6A-63EA-67CB-613B590CF581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501CCBB-30C1-B75C-3311-B8FCB28EE7B5}"/>
              </a:ext>
            </a:extLst>
          </p:cNvPr>
          <p:cNvCxnSpPr>
            <a:cxnSpLocks/>
          </p:cNvCxnSpPr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DBB053F2-3249-CEA6-4CD7-2631C534C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Delete entry from Phonebook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883FAA-9E9C-9870-E189-DB8D8F04032A}"/>
              </a:ext>
            </a:extLst>
          </p:cNvPr>
          <p:cNvSpPr txBox="1"/>
          <p:nvPr/>
        </p:nvSpPr>
        <p:spPr>
          <a:xfrm>
            <a:off x="60386" y="2219104"/>
            <a:ext cx="485666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root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"Empty OR Not Found")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FB9F59-F00A-E280-8A3A-4D7566C4490C}"/>
              </a:ext>
            </a:extLst>
          </p:cNvPr>
          <p:cNvSpPr/>
          <p:nvPr/>
        </p:nvSpPr>
        <p:spPr>
          <a:xfrm>
            <a:off x="5547534" y="1249673"/>
            <a:ext cx="6779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to delete a node in tree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60B7D-609C-2821-26AC-6A54AEA48A7C}"/>
              </a:ext>
            </a:extLst>
          </p:cNvPr>
          <p:cNvSpPr txBox="1"/>
          <p:nvPr/>
        </p:nvSpPr>
        <p:spPr>
          <a:xfrm>
            <a:off x="60387" y="3696412"/>
            <a:ext cx="53483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[Search Left Subtree]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name &lt; name(root)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 ←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C3CBAE-CF38-D6B1-A066-561FEE1C6D7E}"/>
              </a:ext>
            </a:extLst>
          </p:cNvPr>
          <p:cNvSpPr txBox="1"/>
          <p:nvPr/>
        </p:nvSpPr>
        <p:spPr>
          <a:xfrm>
            <a:off x="60386" y="5070602"/>
            <a:ext cx="56244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[Search Right Subtree]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 name &gt; name(root)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 ←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B6882-2F3F-5CDD-E701-EA67FC8ECC90}"/>
              </a:ext>
            </a:extLst>
          </p:cNvPr>
          <p:cNvSpPr txBox="1"/>
          <p:nvPr/>
        </p:nvSpPr>
        <p:spPr>
          <a:xfrm>
            <a:off x="5592083" y="1583915"/>
            <a:ext cx="64417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root,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char</a:t>
            </a:r>
            <a:r>
              <a:rPr lang="en-IN" dirty="0">
                <a:latin typeface="Consolas" panose="020B0609020204030204" pitchFamily="49" charset="0"/>
              </a:rPr>
              <a:t> name[]){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1FDAF0-7EC4-E5D7-B0BB-A88BB2B69DEE}"/>
              </a:ext>
            </a:extLst>
          </p:cNvPr>
          <p:cNvSpPr txBox="1"/>
          <p:nvPr/>
        </p:nvSpPr>
        <p:spPr>
          <a:xfrm>
            <a:off x="5980978" y="2457377"/>
            <a:ext cx="490555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(root ==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</a:t>
            </a:r>
            <a:r>
              <a:rPr lang="en-IN" dirty="0" err="1">
                <a:solidFill>
                  <a:schemeClr val="tx2"/>
                </a:solidFill>
                <a:latin typeface="Consolas" panose="020B0609020204030204" pitchFamily="49" charset="0"/>
              </a:rPr>
              <a:t>printf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</a:rPr>
              <a:t>“Empty OR Not Found");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B39B393-977D-C487-DA19-1FCB9464656A}"/>
              </a:ext>
            </a:extLst>
          </p:cNvPr>
          <p:cNvSpPr txBox="1"/>
          <p:nvPr/>
        </p:nvSpPr>
        <p:spPr>
          <a:xfrm>
            <a:off x="6006854" y="3952629"/>
            <a:ext cx="61132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strcmp</a:t>
            </a:r>
            <a:r>
              <a:rPr lang="en-IN" dirty="0">
                <a:latin typeface="Consolas" panose="020B0609020204030204" pitchFamily="49" charset="0"/>
              </a:rPr>
              <a:t>(name, root-&gt;name)&lt;0){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, name);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E91533-0DA4-5E15-233E-C86070E3ED40}"/>
              </a:ext>
            </a:extLst>
          </p:cNvPr>
          <p:cNvSpPr txBox="1"/>
          <p:nvPr/>
        </p:nvSpPr>
        <p:spPr>
          <a:xfrm>
            <a:off x="5972352" y="5316823"/>
            <a:ext cx="63461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 err="1">
                <a:latin typeface="Consolas" panose="020B0609020204030204" pitchFamily="49" charset="0"/>
              </a:rPr>
              <a:t>strcmp</a:t>
            </a:r>
            <a:r>
              <a:rPr lang="en-IN" dirty="0">
                <a:latin typeface="Consolas" panose="020B0609020204030204" pitchFamily="49" charset="0"/>
              </a:rPr>
              <a:t>(name, root-&gt;name)&gt;0){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 = </a:t>
            </a: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DelNode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, </a:t>
            </a:r>
            <a:r>
              <a:rPr lang="en-IN" dirty="0" err="1">
                <a:latin typeface="Consolas" panose="020B0609020204030204" pitchFamily="49" charset="0"/>
              </a:rPr>
              <a:t>val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40D164-3E5E-E263-C80B-4722E53E5542}"/>
              </a:ext>
            </a:extLst>
          </p:cNvPr>
          <p:cNvSpPr/>
          <p:nvPr/>
        </p:nvSpPr>
        <p:spPr>
          <a:xfrm>
            <a:off x="60385" y="2239737"/>
            <a:ext cx="12059725" cy="14191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49642A7-B368-458D-D7A7-99FC9B831702}"/>
              </a:ext>
            </a:extLst>
          </p:cNvPr>
          <p:cNvSpPr/>
          <p:nvPr/>
        </p:nvSpPr>
        <p:spPr>
          <a:xfrm>
            <a:off x="60385" y="3733738"/>
            <a:ext cx="12059726" cy="10772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CAB1131-4F69-BC66-EAED-23EBCC3F687F}"/>
              </a:ext>
            </a:extLst>
          </p:cNvPr>
          <p:cNvSpPr/>
          <p:nvPr/>
        </p:nvSpPr>
        <p:spPr>
          <a:xfrm>
            <a:off x="60384" y="5029847"/>
            <a:ext cx="12059727" cy="122429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7193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A689D75-EC68-1769-6C31-79F984B1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entry from Phonebook(continued)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80C2AF-6A34-9B81-4E24-A770BDCF51B3}"/>
              </a:ext>
            </a:extLst>
          </p:cNvPr>
          <p:cNvCxnSpPr/>
          <p:nvPr/>
        </p:nvCxnSpPr>
        <p:spPr>
          <a:xfrm>
            <a:off x="5635223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FF72BBF-94E1-AC24-0D18-B62E9A2B0A6B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E4135B-57C3-EA01-57A1-C62562052D9E}"/>
              </a:ext>
            </a:extLst>
          </p:cNvPr>
          <p:cNvSpPr txBox="1"/>
          <p:nvPr/>
        </p:nvSpPr>
        <p:spPr>
          <a:xfrm>
            <a:off x="6454144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861DE66-A374-5F9B-D789-9690624ADB99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FA60753-CA5E-5155-1211-EB5B3D178C51}"/>
              </a:ext>
            </a:extLst>
          </p:cNvPr>
          <p:cNvSpPr txBox="1"/>
          <p:nvPr/>
        </p:nvSpPr>
        <p:spPr>
          <a:xfrm>
            <a:off x="69008" y="1296086"/>
            <a:ext cx="25189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[Delete the Node]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5098E9-1A70-F6A8-647F-63D4BD7CDBDA}"/>
              </a:ext>
            </a:extLst>
          </p:cNvPr>
          <p:cNvSpPr txBox="1"/>
          <p:nvPr/>
        </p:nvSpPr>
        <p:spPr>
          <a:xfrm>
            <a:off x="5650660" y="1296086"/>
            <a:ext cx="862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dirty="0">
                <a:latin typeface="Consolas" panose="020B0609020204030204" pitchFamily="49" charset="0"/>
              </a:rPr>
              <a:t>{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7120C6-31E1-1C69-D0A0-25C1CB0F545C}"/>
              </a:ext>
            </a:extLst>
          </p:cNvPr>
          <p:cNvSpPr txBox="1"/>
          <p:nvPr/>
        </p:nvSpPr>
        <p:spPr>
          <a:xfrm>
            <a:off x="69008" y="2295477"/>
            <a:ext cx="56661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[Case 1: Node with No Children]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 AND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 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CB164D-E2E1-5D43-59A3-E2FA38277E89}"/>
              </a:ext>
            </a:extLst>
          </p:cNvPr>
          <p:cNvSpPr txBox="1"/>
          <p:nvPr/>
        </p:nvSpPr>
        <p:spPr>
          <a:xfrm>
            <a:off x="69008" y="4050786"/>
            <a:ext cx="47100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Consolas" panose="020B0609020204030204" pitchFamily="49" charset="0"/>
              </a:rPr>
              <a:t>[Case 2: Node with One Right Child]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 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 ←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Free(</a:t>
            </a:r>
            <a:r>
              <a:rPr lang="en-IN" dirty="0">
                <a:latin typeface="Consolas" panose="020B0609020204030204" pitchFamily="49" charset="0"/>
              </a:rPr>
              <a:t>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accent3"/>
                </a:solidFill>
                <a:latin typeface="Consolas" panose="020B0609020204030204" pitchFamily="49" charset="0"/>
              </a:rPr>
              <a:t>temp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3FDF3E-5091-7117-6AC0-6000BE933EB3}"/>
              </a:ext>
            </a:extLst>
          </p:cNvPr>
          <p:cNvSpPr txBox="1"/>
          <p:nvPr/>
        </p:nvSpPr>
        <p:spPr>
          <a:xfrm>
            <a:off x="6078750" y="2459243"/>
            <a:ext cx="611003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 ==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 &amp;&amp;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 ==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){ </a:t>
            </a:r>
          </a:p>
          <a:p>
            <a:r>
              <a:rPr lang="en-IN" dirty="0">
                <a:latin typeface="Consolas" panose="020B0609020204030204" pitchFamily="49" charset="0"/>
              </a:rPr>
              <a:t>         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(root);   </a:t>
            </a:r>
          </a:p>
          <a:p>
            <a:r>
              <a:rPr lang="en-IN" dirty="0">
                <a:latin typeface="Consolas" panose="020B0609020204030204" pitchFamily="49" charset="0"/>
              </a:rPr>
              <a:t>         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;       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35A8FB-331E-3A5B-6B45-FE36B16464FD}"/>
              </a:ext>
            </a:extLst>
          </p:cNvPr>
          <p:cNvSpPr/>
          <p:nvPr/>
        </p:nvSpPr>
        <p:spPr>
          <a:xfrm>
            <a:off x="69008" y="2309291"/>
            <a:ext cx="11990720" cy="152976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DEB884D-1201-0349-DF44-515A4E062D02}"/>
              </a:ext>
            </a:extLst>
          </p:cNvPr>
          <p:cNvSpPr/>
          <p:nvPr/>
        </p:nvSpPr>
        <p:spPr>
          <a:xfrm>
            <a:off x="69008" y="1358875"/>
            <a:ext cx="11990720" cy="76697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D2BDC52-59A6-48EA-F199-E0082F520BA7}"/>
              </a:ext>
            </a:extLst>
          </p:cNvPr>
          <p:cNvSpPr/>
          <p:nvPr/>
        </p:nvSpPr>
        <p:spPr>
          <a:xfrm>
            <a:off x="69007" y="4090677"/>
            <a:ext cx="11990717" cy="172894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65A19C-8D6D-C26B-D9AD-B7C45F493AFF}"/>
              </a:ext>
            </a:extLst>
          </p:cNvPr>
          <p:cNvSpPr txBox="1"/>
          <p:nvPr/>
        </p:nvSpPr>
        <p:spPr>
          <a:xfrm>
            <a:off x="6025522" y="4090678"/>
            <a:ext cx="586167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left</a:t>
            </a:r>
            <a:r>
              <a:rPr lang="en-IN" dirty="0">
                <a:latin typeface="Consolas" panose="020B0609020204030204" pitchFamily="49" charset="0"/>
              </a:rPr>
              <a:t> ==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){                 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B050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 =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right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114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E95B1-A573-4F46-0DD1-AC634CFEC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8DCBEBD-978E-CD90-CAAB-D8B7D1968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entry from Phonebook(continued)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FB151C3-F1A9-CBA3-4AEC-8247D5C6B99A}"/>
              </a:ext>
            </a:extLst>
          </p:cNvPr>
          <p:cNvCxnSpPr/>
          <p:nvPr/>
        </p:nvCxnSpPr>
        <p:spPr>
          <a:xfrm>
            <a:off x="5652472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FFB3EE2-6FDF-1AA9-22FB-F38883C8DB35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B5DDD3-DD40-B75A-6B90-3EC6FAF4CD7A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200C88-A1AA-CEEC-DD89-C3D284DBD767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96F927-4060-C856-B822-1C58626E0276}"/>
              </a:ext>
            </a:extLst>
          </p:cNvPr>
          <p:cNvSpPr txBox="1"/>
          <p:nvPr/>
        </p:nvSpPr>
        <p:spPr>
          <a:xfrm>
            <a:off x="69008" y="2644342"/>
            <a:ext cx="456337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Consolas" panose="020B0609020204030204" pitchFamily="49" charset="0"/>
              </a:rPr>
              <a:t>[Case 3: Node with One Left Child]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 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 ←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E36F49-2BFF-626B-DB4E-352AF98F28A0}"/>
              </a:ext>
            </a:extLst>
          </p:cNvPr>
          <p:cNvSpPr txBox="1"/>
          <p:nvPr/>
        </p:nvSpPr>
        <p:spPr>
          <a:xfrm>
            <a:off x="6096005" y="3030214"/>
            <a:ext cx="602698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 if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9A3A3A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 ==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){                  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00B050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 =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(root); </a:t>
            </a:r>
          </a:p>
          <a:p>
            <a:r>
              <a:rPr lang="en-IN" dirty="0">
                <a:latin typeface="Consolas" panose="020B0609020204030204" pitchFamily="49" charset="0"/>
              </a:rPr>
              <a:t>     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B9846FC-9C30-5AD0-D41C-73B96AA52525}"/>
              </a:ext>
            </a:extLst>
          </p:cNvPr>
          <p:cNvSpPr/>
          <p:nvPr/>
        </p:nvSpPr>
        <p:spPr>
          <a:xfrm>
            <a:off x="69008" y="2680866"/>
            <a:ext cx="11869947" cy="182667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3292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C0E013-9EA7-0A08-CFA2-1D331FA5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Delete entry from Phonebook(continued)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5F8E37-78C1-69F1-4953-599CF90E0D1D}"/>
              </a:ext>
            </a:extLst>
          </p:cNvPr>
          <p:cNvCxnSpPr/>
          <p:nvPr/>
        </p:nvCxnSpPr>
        <p:spPr>
          <a:xfrm>
            <a:off x="4953732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63626FC-7E99-9273-E742-2F08FD6A23CE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C73912-3B64-6BD3-ACAE-4B27799E9714}"/>
              </a:ext>
            </a:extLst>
          </p:cNvPr>
          <p:cNvSpPr txBox="1"/>
          <p:nvPr/>
        </p:nvSpPr>
        <p:spPr>
          <a:xfrm>
            <a:off x="737716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CEB515-4666-53FE-82ED-2D11CF8B19E9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DF55A66-C466-6E15-B7F7-2F48C4FC90CF}"/>
              </a:ext>
            </a:extLst>
          </p:cNvPr>
          <p:cNvSpPr txBox="1"/>
          <p:nvPr/>
        </p:nvSpPr>
        <p:spPr>
          <a:xfrm>
            <a:off x="45656" y="1277731"/>
            <a:ext cx="497491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Consolas" panose="020B0609020204030204" pitchFamily="49" charset="0"/>
              </a:rPr>
              <a:t>[Case 4: Node with Two Children]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 in</a:t>
            </a:r>
            <a:r>
              <a:rPr lang="en-IN" dirty="0">
                <a:latin typeface="Consolas" panose="020B0609020204030204" pitchFamily="49" charset="0"/>
              </a:rPr>
              <a:t> ← 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(root))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data(root) ← data(in)</a:t>
            </a:r>
          </a:p>
          <a:p>
            <a:pPr marL="0" indent="0">
              <a:buNone/>
            </a:pPr>
            <a:endParaRPr lang="en-I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IN" dirty="0">
                <a:latin typeface="Consolas" panose="020B0609020204030204" pitchFamily="49" charset="0"/>
              </a:rPr>
              <a:t> ← 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IN" dirty="0">
                <a:latin typeface="Consolas" panose="020B0609020204030204" pitchFamily="49" charset="0"/>
              </a:rPr>
              <a:t>(root)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905122-1B22-6A6B-F984-6E5354A02C58}"/>
              </a:ext>
            </a:extLst>
          </p:cNvPr>
          <p:cNvSpPr txBox="1"/>
          <p:nvPr/>
        </p:nvSpPr>
        <p:spPr>
          <a:xfrm>
            <a:off x="45656" y="4912481"/>
            <a:ext cx="27000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0070C0"/>
                </a:solidFill>
                <a:latin typeface="Consolas" panose="020B0609020204030204" pitchFamily="49" charset="0"/>
              </a:rPr>
              <a:t>[Return Updated Tree]</a:t>
            </a:r>
          </a:p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 Return</a:t>
            </a:r>
            <a:r>
              <a:rPr lang="en-IN" dirty="0">
                <a:latin typeface="Consolas" panose="020B0609020204030204" pitchFamily="49" charset="0"/>
              </a:rPr>
              <a:t> root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A55C3F9-411A-250B-BE87-27B4C6D22433}"/>
              </a:ext>
            </a:extLst>
          </p:cNvPr>
          <p:cNvSpPr txBox="1"/>
          <p:nvPr/>
        </p:nvSpPr>
        <p:spPr>
          <a:xfrm>
            <a:off x="5688385" y="1516062"/>
            <a:ext cx="6250573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</a:p>
          <a:p>
            <a:r>
              <a:rPr lang="en-IN" dirty="0">
                <a:latin typeface="Consolas" panose="020B0609020204030204" pitchFamily="49" charset="0"/>
              </a:rPr>
              <a:t>{        </a:t>
            </a:r>
          </a:p>
          <a:p>
            <a:pPr lvl="1"/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latin typeface="Consolas" panose="020B0609020204030204" pitchFamily="49" charset="0"/>
              </a:rPr>
              <a:t>* </a:t>
            </a:r>
            <a:r>
              <a:rPr lang="en-IN" dirty="0">
                <a:solidFill>
                  <a:schemeClr val="accent3"/>
                </a:solidFill>
                <a:latin typeface="Consolas" panose="020B0609020204030204" pitchFamily="49" charset="0"/>
              </a:rPr>
              <a:t>in</a:t>
            </a:r>
            <a:r>
              <a:rPr lang="en-IN" dirty="0">
                <a:latin typeface="Consolas" panose="020B0609020204030204" pitchFamily="49" charset="0"/>
              </a:rPr>
              <a:t> = </a:t>
            </a:r>
          </a:p>
          <a:p>
            <a:pPr lvl="1"/>
            <a:r>
              <a:rPr lang="en-IN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		</a:t>
            </a:r>
            <a:r>
              <a:rPr lang="en-IN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);</a:t>
            </a:r>
          </a:p>
          <a:p>
            <a:pPr lvl="1"/>
            <a:endParaRPr lang="en-IN" dirty="0">
              <a:latin typeface="Consolas" panose="020B0609020204030204" pitchFamily="49" charset="0"/>
            </a:endParaRPr>
          </a:p>
          <a:p>
            <a:pPr lvl="1"/>
            <a:r>
              <a:rPr lang="en-IN" dirty="0">
                <a:latin typeface="Consolas" panose="020B0609020204030204" pitchFamily="49" charset="0"/>
              </a:rPr>
              <a:t>root-&gt;left = in-&gt;left;</a:t>
            </a:r>
          </a:p>
          <a:p>
            <a:pPr lvl="1"/>
            <a:r>
              <a:rPr lang="en-IN" dirty="0">
                <a:latin typeface="Consolas" panose="020B0609020204030204" pitchFamily="49" charset="0"/>
              </a:rPr>
              <a:t>            </a:t>
            </a:r>
          </a:p>
          <a:p>
            <a:pPr lvl="1"/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GB" dirty="0">
                <a:latin typeface="Consolas" panose="020B0609020204030204" pitchFamily="49" charset="0"/>
              </a:rPr>
              <a:t>* </a:t>
            </a:r>
            <a:r>
              <a:rPr lang="en-GB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GB" dirty="0">
                <a:latin typeface="Consolas" panose="020B0609020204030204" pitchFamily="49" charset="0"/>
              </a:rPr>
              <a:t> = root-&gt;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GB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free</a:t>
            </a:r>
            <a:r>
              <a:rPr lang="en-GB" dirty="0">
                <a:latin typeface="Consolas" panose="020B0609020204030204" pitchFamily="49" charset="0"/>
              </a:rPr>
              <a:t>(root);   </a:t>
            </a:r>
          </a:p>
          <a:p>
            <a:pPr lvl="1"/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>
                <a:solidFill>
                  <a:srgbClr val="92D050"/>
                </a:solidFill>
                <a:latin typeface="Consolas" panose="020B0609020204030204" pitchFamily="49" charset="0"/>
              </a:rPr>
              <a:t>temp</a:t>
            </a:r>
            <a:r>
              <a:rPr lang="en-GB" dirty="0">
                <a:latin typeface="Consolas" panose="020B0609020204030204" pitchFamily="49" charset="0"/>
              </a:rPr>
              <a:t>;</a:t>
            </a:r>
            <a:r>
              <a:rPr lang="en-IN" dirty="0">
                <a:latin typeface="Consolas" panose="020B0609020204030204" pitchFamily="49" charset="0"/>
              </a:rPr>
              <a:t>             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38A9A8-0A37-3306-A437-C787DAA11B68}"/>
              </a:ext>
            </a:extLst>
          </p:cNvPr>
          <p:cNvSpPr txBox="1"/>
          <p:nvPr/>
        </p:nvSpPr>
        <p:spPr>
          <a:xfrm>
            <a:off x="5272560" y="5142075"/>
            <a:ext cx="2685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Consolas" panose="020B0609020204030204" pitchFamily="49" charset="0"/>
              </a:rPr>
              <a:t>     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root; 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AE27E5-281D-FA5A-9487-EA410BB60BA1}"/>
              </a:ext>
            </a:extLst>
          </p:cNvPr>
          <p:cNvSpPr/>
          <p:nvPr/>
        </p:nvSpPr>
        <p:spPr>
          <a:xfrm>
            <a:off x="106392" y="1345707"/>
            <a:ext cx="11979216" cy="340290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6967CB-A80E-98F5-C354-07CF0A65C0D8}"/>
              </a:ext>
            </a:extLst>
          </p:cNvPr>
          <p:cNvSpPr/>
          <p:nvPr/>
        </p:nvSpPr>
        <p:spPr>
          <a:xfrm>
            <a:off x="108921" y="4932813"/>
            <a:ext cx="11976683" cy="8350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9009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DFF3294-4FA9-2106-2421-BAB5F103B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</p:spPr>
        <p:txBody>
          <a:bodyPr/>
          <a:lstStyle/>
          <a:p>
            <a:r>
              <a:rPr lang="en-IN" dirty="0"/>
              <a:t>Get Inorder Successor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77D423C-FAC9-AD5E-14AB-C340FF575B16}"/>
              </a:ext>
            </a:extLst>
          </p:cNvPr>
          <p:cNvCxnSpPr/>
          <p:nvPr/>
        </p:nvCxnSpPr>
        <p:spPr>
          <a:xfrm>
            <a:off x="5143505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AF64D02-B8A0-03E0-220F-5DBFF3AF10A3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6081A-475F-EC4C-5260-736C4B7E4CAA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BA3E80-A435-92B5-425A-4BC0C1838A75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883D9B-C37A-3825-591A-9D4D64BF5BA6}"/>
              </a:ext>
            </a:extLst>
          </p:cNvPr>
          <p:cNvSpPr txBox="1"/>
          <p:nvPr/>
        </p:nvSpPr>
        <p:spPr>
          <a:xfrm>
            <a:off x="189781" y="2435961"/>
            <a:ext cx="327803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GB" dirty="0">
                <a:latin typeface="Consolas" panose="020B0609020204030204" pitchFamily="49" charset="0"/>
              </a:rPr>
              <a:t> root = 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Return NULL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F3E4E4-B23C-12AC-96A4-CB3EFF357234}"/>
              </a:ext>
            </a:extLst>
          </p:cNvPr>
          <p:cNvSpPr txBox="1"/>
          <p:nvPr/>
        </p:nvSpPr>
        <p:spPr>
          <a:xfrm>
            <a:off x="103517" y="3950002"/>
            <a:ext cx="52064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latin typeface="Consolas" panose="020B0609020204030204" pitchFamily="49" charset="0"/>
              </a:rPr>
              <a:t>[Traverse to the Leftmost Node]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GB" dirty="0">
                <a:latin typeface="Consolas" panose="020B0609020204030204" pitchFamily="49" charset="0"/>
              </a:rPr>
              <a:t> root ≠ 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GB" dirty="0">
                <a:latin typeface="Consolas" panose="020B0609020204030204" pitchFamily="49" charset="0"/>
              </a:rPr>
              <a:t> AND 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dirty="0">
                <a:latin typeface="Consolas" panose="020B0609020204030204" pitchFamily="49" charset="0"/>
              </a:rPr>
              <a:t>(root) ≠ </a:t>
            </a: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DO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</a:rPr>
              <a:t>    root ← </a:t>
            </a:r>
            <a:r>
              <a:rPr lang="en-GB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GB" dirty="0">
                <a:latin typeface="Consolas" panose="020B0609020204030204" pitchFamily="49" charset="0"/>
              </a:rPr>
              <a:t>(root)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D28B7E-BF58-93A8-1349-D55718DB24F7}"/>
              </a:ext>
            </a:extLst>
          </p:cNvPr>
          <p:cNvSpPr txBox="1"/>
          <p:nvPr/>
        </p:nvSpPr>
        <p:spPr>
          <a:xfrm>
            <a:off x="100962" y="5525394"/>
            <a:ext cx="36791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  <a:latin typeface="Consolas" panose="020B0609020204030204" pitchFamily="49" charset="0"/>
              </a:rPr>
              <a:t>[Return</a:t>
            </a:r>
            <a:r>
              <a:rPr lang="en-GB" b="1" dirty="0">
                <a:latin typeface="Consolas" panose="020B0609020204030204" pitchFamily="49" charset="0"/>
              </a:rPr>
              <a:t> </a:t>
            </a:r>
            <a:r>
              <a:rPr lang="en-GB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Inorder</a:t>
            </a:r>
            <a:r>
              <a:rPr lang="en-GB" b="1" dirty="0">
                <a:solidFill>
                  <a:srgbClr val="0070C0"/>
                </a:solidFill>
                <a:latin typeface="Consolas" panose="020B0609020204030204" pitchFamily="49" charset="0"/>
              </a:rPr>
              <a:t> Successor]</a:t>
            </a:r>
          </a:p>
          <a:p>
            <a:pPr marL="0" indent="0">
              <a:buNone/>
            </a:pPr>
            <a:r>
              <a:rPr lang="en-GB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GB" dirty="0">
                <a:latin typeface="Consolas" panose="020B0609020204030204" pitchFamily="49" charset="0"/>
              </a:rPr>
              <a:t> root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943549-BC99-E45E-80AD-97DF5401BDB8}"/>
              </a:ext>
            </a:extLst>
          </p:cNvPr>
          <p:cNvSpPr txBox="1"/>
          <p:nvPr/>
        </p:nvSpPr>
        <p:spPr>
          <a:xfrm>
            <a:off x="5065880" y="1728429"/>
            <a:ext cx="7097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getInOrderSuccessor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 ){</a:t>
            </a:r>
            <a:endParaRPr lang="en-IN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0B4DC3-9A31-614C-0CF1-9E6F2E285A6D}"/>
              </a:ext>
            </a:extLst>
          </p:cNvPr>
          <p:cNvSpPr txBox="1"/>
          <p:nvPr/>
        </p:nvSpPr>
        <p:spPr>
          <a:xfrm>
            <a:off x="6096000" y="4160407"/>
            <a:ext cx="54116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while</a:t>
            </a:r>
            <a:r>
              <a:rPr lang="en-IN" dirty="0">
                <a:latin typeface="Consolas" panose="020B0609020204030204" pitchFamily="49" charset="0"/>
              </a:rPr>
              <a:t>(root !=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&amp;&amp;</a:t>
            </a:r>
            <a:r>
              <a:rPr lang="en-IN" dirty="0">
                <a:latin typeface="Consolas" panose="020B0609020204030204" pitchFamily="49" charset="0"/>
              </a:rPr>
              <a:t>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 !=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    root = 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5021BD2-8C93-C166-B07B-756AD9E77C5A}"/>
              </a:ext>
            </a:extLst>
          </p:cNvPr>
          <p:cNvSpPr txBox="1"/>
          <p:nvPr/>
        </p:nvSpPr>
        <p:spPr>
          <a:xfrm>
            <a:off x="4938062" y="5607787"/>
            <a:ext cx="2950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      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root;</a:t>
            </a:r>
          </a:p>
          <a:p>
            <a:pPr marL="0" indent="0">
              <a:buNone/>
            </a:pPr>
            <a:r>
              <a:rPr lang="en-IN" dirty="0"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DC1A57-0076-DB87-1316-4293F31528AF}"/>
              </a:ext>
            </a:extLst>
          </p:cNvPr>
          <p:cNvSpPr txBox="1"/>
          <p:nvPr/>
        </p:nvSpPr>
        <p:spPr>
          <a:xfrm>
            <a:off x="5986734" y="2611332"/>
            <a:ext cx="3679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(root ==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)</a:t>
            </a:r>
          </a:p>
          <a:p>
            <a:r>
              <a:rPr lang="en-IN" dirty="0">
                <a:latin typeface="Consolas" panose="020B0609020204030204" pitchFamily="49" charset="0"/>
              </a:rPr>
              <a:t>{ </a:t>
            </a:r>
          </a:p>
          <a:p>
            <a:r>
              <a:rPr lang="en-IN" dirty="0">
                <a:latin typeface="Consolas" panose="020B0609020204030204" pitchFamily="49" charset="0"/>
              </a:rPr>
              <a:t>       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latin typeface="Consolas" panose="020B0609020204030204" pitchFamily="49" charset="0"/>
              </a:rPr>
              <a:t>;       </a:t>
            </a:r>
          </a:p>
          <a:p>
            <a:r>
              <a:rPr lang="en-IN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5F3B2B-A7EE-BAFE-524E-7667D7A99368}"/>
              </a:ext>
            </a:extLst>
          </p:cNvPr>
          <p:cNvSpPr/>
          <p:nvPr/>
        </p:nvSpPr>
        <p:spPr>
          <a:xfrm>
            <a:off x="189781" y="2432952"/>
            <a:ext cx="11477002" cy="135143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0638962-BECC-A580-7DAF-795A165374E2}"/>
              </a:ext>
            </a:extLst>
          </p:cNvPr>
          <p:cNvSpPr/>
          <p:nvPr/>
        </p:nvSpPr>
        <p:spPr>
          <a:xfrm>
            <a:off x="103517" y="3984625"/>
            <a:ext cx="11563266" cy="1293718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D3C46D-FC61-CBB8-7077-618C7B849461}"/>
              </a:ext>
            </a:extLst>
          </p:cNvPr>
          <p:cNvSpPr/>
          <p:nvPr/>
        </p:nvSpPr>
        <p:spPr>
          <a:xfrm>
            <a:off x="189781" y="5525394"/>
            <a:ext cx="11477002" cy="695946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6978F6F-8103-A477-BE8E-A32CC3A44CBD}"/>
              </a:ext>
            </a:extLst>
          </p:cNvPr>
          <p:cNvSpPr/>
          <p:nvPr/>
        </p:nvSpPr>
        <p:spPr>
          <a:xfrm>
            <a:off x="5419555" y="1325893"/>
            <a:ext cx="67793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Function to get </a:t>
            </a:r>
            <a:r>
              <a:rPr lang="en-US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inorder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successor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786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D23AE8B-ED49-C308-5E56-200CE6A04D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Search Name in Phonebook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87133-FC7A-29D5-973B-4C2B9B2385F9}"/>
              </a:ext>
            </a:extLst>
          </p:cNvPr>
          <p:cNvCxnSpPr/>
          <p:nvPr/>
        </p:nvCxnSpPr>
        <p:spPr>
          <a:xfrm>
            <a:off x="4927855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F5EE0F3-FF14-452F-CB50-BC511E5DC9F0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2CAE4-D257-753E-5E71-12A79CC11FA4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8E2B9C-5FBE-5DE9-5BCC-5CC80473EE05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774A6B-8FD1-E2E4-2CCD-904BE396A3F1}"/>
              </a:ext>
            </a:extLst>
          </p:cNvPr>
          <p:cNvSpPr txBox="1"/>
          <p:nvPr/>
        </p:nvSpPr>
        <p:spPr>
          <a:xfrm>
            <a:off x="172529" y="2172059"/>
            <a:ext cx="35023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root = 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endParaRPr lang="en-IN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6FE85-2F90-E85E-1C27-2C22CBC6A7FA}"/>
              </a:ext>
            </a:extLst>
          </p:cNvPr>
          <p:cNvSpPr txBox="1"/>
          <p:nvPr/>
        </p:nvSpPr>
        <p:spPr>
          <a:xfrm>
            <a:off x="172529" y="3458476"/>
            <a:ext cx="317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[Check Current Node]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 </a:t>
            </a:r>
            <a:r>
              <a:rPr lang="en-IN" dirty="0">
                <a:solidFill>
                  <a:schemeClr val="accent6"/>
                </a:solidFill>
                <a:latin typeface="Consolas" panose="020B0609020204030204" pitchFamily="49" charset="0"/>
              </a:rPr>
              <a:t>name(</a:t>
            </a:r>
            <a:r>
              <a:rPr lang="en-IN" dirty="0">
                <a:latin typeface="Consolas" panose="020B0609020204030204" pitchFamily="49" charset="0"/>
              </a:rPr>
              <a:t>root) = name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    Return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350A14-E8A8-F781-DD87-ACB2DEABE14F}"/>
              </a:ext>
            </a:extLst>
          </p:cNvPr>
          <p:cNvSpPr txBox="1"/>
          <p:nvPr/>
        </p:nvSpPr>
        <p:spPr>
          <a:xfrm>
            <a:off x="5037826" y="1516801"/>
            <a:ext cx="6711351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rgbClr val="1D9A78"/>
                </a:solidFill>
                <a:latin typeface="Consolas" panose="020B0609020204030204" pitchFamily="49" charset="0"/>
              </a:rPr>
              <a:t>TreeNode</a:t>
            </a:r>
            <a:r>
              <a:rPr lang="en-IN" dirty="0">
                <a:solidFill>
                  <a:schemeClr val="accent4"/>
                </a:solidFill>
                <a:latin typeface="Consolas" panose="020B0609020204030204" pitchFamily="49" charset="0"/>
              </a:rPr>
              <a:t> </a:t>
            </a:r>
            <a:r>
              <a:rPr lang="en-IN" b="0" dirty="0"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searchNode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effectLst/>
                <a:latin typeface="Consolas" panose="020B0609020204030204" pitchFamily="49" charset="0"/>
              </a:rPr>
              <a:t>root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char[]</a:t>
            </a:r>
            <a:r>
              <a:rPr lang="en-IN" b="0" dirty="0">
                <a:solidFill>
                  <a:srgbClr val="CF22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dirty="0">
                <a:latin typeface="Consolas" panose="020B0609020204030204" pitchFamily="49" charset="0"/>
              </a:rPr>
              <a:t>name</a:t>
            </a:r>
            <a:r>
              <a:rPr lang="en-IN" b="0" dirty="0">
                <a:solidFill>
                  <a:srgbClr val="202020"/>
                </a:solidFill>
                <a:effectLst/>
                <a:latin typeface="Consolas" panose="020B0609020204030204" pitchFamily="49" charset="0"/>
              </a:rPr>
              <a:t>){</a:t>
            </a:r>
            <a:endParaRPr lang="en-IN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469D00-DC52-FD0B-BAB0-1C1FA27570C5}"/>
              </a:ext>
            </a:extLst>
          </p:cNvPr>
          <p:cNvSpPr txBox="1"/>
          <p:nvPr/>
        </p:nvSpPr>
        <p:spPr>
          <a:xfrm>
            <a:off x="5693434" y="2417047"/>
            <a:ext cx="619376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I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effectLst/>
                <a:latin typeface="Consolas" panose="020B0609020204030204" pitchFamily="49" charset="0"/>
              </a:rPr>
              <a:t>root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){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</a:t>
            </a:r>
            <a:r>
              <a:rPr lang="en-I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eturn NULL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6991DE-0176-1C01-5BB3-D26D30A7ACC0}"/>
              </a:ext>
            </a:extLst>
          </p:cNvPr>
          <p:cNvSpPr txBox="1"/>
          <p:nvPr/>
        </p:nvSpPr>
        <p:spPr>
          <a:xfrm>
            <a:off x="5693434" y="3540707"/>
            <a:ext cx="61937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dirty="0" err="1">
                <a:solidFill>
                  <a:srgbClr val="953800"/>
                </a:solidFill>
                <a:latin typeface="Consolas" panose="020B0609020204030204" pitchFamily="49" charset="0"/>
              </a:rPr>
              <a:t>strcmp</a:t>
            </a:r>
            <a:r>
              <a:rPr lang="en-IN" dirty="0">
                <a:latin typeface="Consolas" panose="020B0609020204030204" pitchFamily="49" charset="0"/>
              </a:rPr>
              <a:t>(root-&gt;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name</a:t>
            </a:r>
            <a:r>
              <a:rPr lang="en-IN" dirty="0">
                <a:solidFill>
                  <a:srgbClr val="953800"/>
                </a:solidFill>
                <a:latin typeface="Consolas" panose="020B0609020204030204" pitchFamily="49" charset="0"/>
              </a:rPr>
              <a:t>, </a:t>
            </a:r>
            <a:r>
              <a:rPr lang="en-IN" dirty="0">
                <a:latin typeface="Consolas" panose="020B0609020204030204" pitchFamily="49" charset="0"/>
              </a:rPr>
              <a:t>name)==0</a:t>
            </a: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	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 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16BF34-CAA6-1B93-6148-5C80E84A525F}"/>
              </a:ext>
            </a:extLst>
          </p:cNvPr>
          <p:cNvSpPr/>
          <p:nvPr/>
        </p:nvSpPr>
        <p:spPr>
          <a:xfrm>
            <a:off x="172529" y="2172060"/>
            <a:ext cx="11477002" cy="114523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A6DA103-FC9A-908B-D9D8-86CFD024D6E4}"/>
              </a:ext>
            </a:extLst>
          </p:cNvPr>
          <p:cNvSpPr/>
          <p:nvPr/>
        </p:nvSpPr>
        <p:spPr>
          <a:xfrm>
            <a:off x="172529" y="3485613"/>
            <a:ext cx="11477002" cy="125928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0711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7A15A-692B-FFF0-DAD8-63FFF3C9E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628AF-BCBC-558D-4565-0C1DE58700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Search Name in Phonebook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F3A8EF9-9D0F-BDAF-E54F-69A4B2AF4CF5}"/>
              </a:ext>
            </a:extLst>
          </p:cNvPr>
          <p:cNvCxnSpPr/>
          <p:nvPr/>
        </p:nvCxnSpPr>
        <p:spPr>
          <a:xfrm>
            <a:off x="5385047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B54D7EE-4857-030C-1FB6-A8DC1B14668E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194442-1F07-F1A6-3163-F5DB57809054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69BF43E-CC91-32C6-EFCA-AFADA44F4FB3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09A2128-266C-FDC0-D6BD-901A5800A0C5}"/>
              </a:ext>
            </a:extLst>
          </p:cNvPr>
          <p:cNvSpPr txBox="1"/>
          <p:nvPr/>
        </p:nvSpPr>
        <p:spPr>
          <a:xfrm>
            <a:off x="120770" y="1409420"/>
            <a:ext cx="52362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</a:t>
            </a: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Search Left Subtree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]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name &lt; name(root)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latin typeface="Consolas" panose="020B0609020204030204" pitchFamily="49" charset="0"/>
              </a:rPr>
              <a:t> 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  <a:r>
              <a:rPr lang="en-IN" dirty="0"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Search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latin typeface="Consolas" panose="020B0609020204030204" pitchFamily="49" charset="0"/>
              </a:rPr>
              <a:t>(root), name)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7882B8-6172-1D63-EC17-0F7A9C100004}"/>
              </a:ext>
            </a:extLst>
          </p:cNvPr>
          <p:cNvSpPr txBox="1"/>
          <p:nvPr/>
        </p:nvSpPr>
        <p:spPr>
          <a:xfrm>
            <a:off x="120770" y="3654277"/>
            <a:ext cx="61937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</a:t>
            </a:r>
            <a:r>
              <a:rPr lang="en-IN" b="1" dirty="0">
                <a:solidFill>
                  <a:schemeClr val="tx2"/>
                </a:solidFill>
                <a:latin typeface="Consolas" panose="020B0609020204030204" pitchFamily="49" charset="0"/>
              </a:rPr>
              <a:t>Search Right Subtree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] </a:t>
            </a:r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ELSE</a:t>
            </a:r>
          </a:p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     Return </a:t>
            </a: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Search</a:t>
            </a:r>
            <a:r>
              <a:rPr lang="en-IN" dirty="0"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latin typeface="Consolas" panose="020B0609020204030204" pitchFamily="49" charset="0"/>
              </a:rPr>
              <a:t>(root), name)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FA5E70-5FDF-0A8D-3ECC-0833BDC4191D}"/>
              </a:ext>
            </a:extLst>
          </p:cNvPr>
          <p:cNvSpPr txBox="1"/>
          <p:nvPr/>
        </p:nvSpPr>
        <p:spPr>
          <a:xfrm>
            <a:off x="6096000" y="1792168"/>
            <a:ext cx="619376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dirty="0" err="1">
                <a:solidFill>
                  <a:srgbClr val="953800"/>
                </a:solidFill>
                <a:latin typeface="Consolas" panose="020B0609020204030204" pitchFamily="49" charset="0"/>
              </a:rPr>
              <a:t>strcmp</a:t>
            </a:r>
            <a:r>
              <a:rPr lang="en-IN" sz="1800" dirty="0">
                <a:latin typeface="Consolas" panose="020B0609020204030204" pitchFamily="49" charset="0"/>
              </a:rPr>
              <a:t>(name</a:t>
            </a:r>
            <a:r>
              <a:rPr lang="en-IN" sz="1800" dirty="0">
                <a:solidFill>
                  <a:srgbClr val="953800"/>
                </a:solidFill>
                <a:latin typeface="Consolas" panose="020B0609020204030204" pitchFamily="49" charset="0"/>
              </a:rPr>
              <a:t>, 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latin typeface="Consolas" panose="020B0609020204030204" pitchFamily="49" charset="0"/>
              </a:rPr>
              <a:t>)&lt;0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searchNode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8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18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name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EC3B55-3191-65D9-084C-6462D1DCA8CB}"/>
              </a:ext>
            </a:extLst>
          </p:cNvPr>
          <p:cNvSpPr txBox="1"/>
          <p:nvPr/>
        </p:nvSpPr>
        <p:spPr>
          <a:xfrm>
            <a:off x="6096000" y="3769694"/>
            <a:ext cx="6193766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else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{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    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searchNode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18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IN" sz="18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name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A94BEB-4C99-3B01-1F88-B9499727A1FF}"/>
              </a:ext>
            </a:extLst>
          </p:cNvPr>
          <p:cNvSpPr/>
          <p:nvPr/>
        </p:nvSpPr>
        <p:spPr>
          <a:xfrm>
            <a:off x="120770" y="1403758"/>
            <a:ext cx="11698064" cy="170278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3B371C-CC4E-3538-DB3E-04619E509E8C}"/>
              </a:ext>
            </a:extLst>
          </p:cNvPr>
          <p:cNvSpPr/>
          <p:nvPr/>
        </p:nvSpPr>
        <p:spPr>
          <a:xfrm>
            <a:off x="120769" y="3509457"/>
            <a:ext cx="11698061" cy="126095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5081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D288C-97F5-C222-293D-937B9427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1059CA-E88D-D79C-7716-C2157AD5B9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Printing entries in ascending order of name(</a:t>
            </a:r>
            <a:r>
              <a:rPr lang="en-US" dirty="0" err="1"/>
              <a:t>Inorder</a:t>
            </a:r>
            <a:r>
              <a:rPr lang="en-US" dirty="0"/>
              <a:t>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7D8FBD-61C0-BB88-87BA-7D5D0161D877}"/>
              </a:ext>
            </a:extLst>
          </p:cNvPr>
          <p:cNvSpPr>
            <a:spLocks noGrp="1"/>
          </p:cNvSpPr>
          <p:nvPr/>
        </p:nvSpPr>
        <p:spPr>
          <a:xfrm>
            <a:off x="131180" y="876143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sz="2000" dirty="0">
                <a:latin typeface="Consolas" panose="020B0609020204030204" pitchFamily="49" charset="0"/>
              </a:rPr>
              <a:t> root = </a:t>
            </a: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sz="2000" dirty="0">
                <a:latin typeface="Consolas" panose="020B0609020204030204" pitchFamily="49" charset="0"/>
              </a:rPr>
              <a:t>    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sz="2000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sz="2000" dirty="0">
                <a:latin typeface="Consolas" panose="020B0609020204030204" pitchFamily="49" charset="0"/>
              </a:rPr>
              <a:t>root</a:t>
            </a:r>
            <a:r>
              <a:rPr lang="en-IN" sz="2000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FDE240-95C0-BDF8-B9C4-E7F6C8751F9B}"/>
              </a:ext>
            </a:extLst>
          </p:cNvPr>
          <p:cNvSpPr txBox="1">
            <a:spLocks/>
          </p:cNvSpPr>
          <p:nvPr/>
        </p:nvSpPr>
        <p:spPr>
          <a:xfrm>
            <a:off x="6096000" y="876142"/>
            <a:ext cx="5839314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18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-&gt;left);</a:t>
            </a:r>
          </a:p>
          <a:p>
            <a:pPr marL="0" indent="0">
              <a:lnSpc>
                <a:spcPts val="2100"/>
              </a:lnSpc>
              <a:buNone/>
            </a:pPr>
            <a:endParaRPr lang="en-IN" sz="18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dirty="0" err="1">
                <a:solidFill>
                  <a:srgbClr val="8250DF"/>
                </a:solidFill>
                <a:latin typeface="Consolas" panose="020B0609020204030204" pitchFamily="49" charset="0"/>
              </a:rPr>
              <a:t>printf</a:t>
            </a:r>
            <a:r>
              <a:rPr lang="en-IN" sz="1800" dirty="0">
                <a:solidFill>
                  <a:srgbClr val="8250DF"/>
                </a:solidFill>
                <a:latin typeface="Consolas" panose="020B0609020204030204" pitchFamily="49" charset="0"/>
              </a:rPr>
              <a:t>("Name: %s, Phone: %s\</a:t>
            </a:r>
            <a:r>
              <a:rPr lang="en-IN" sz="1800" dirty="0" err="1">
                <a:solidFill>
                  <a:srgbClr val="8250DF"/>
                </a:solidFill>
                <a:latin typeface="Consolas" panose="020B0609020204030204" pitchFamily="49" charset="0"/>
              </a:rPr>
              <a:t>n",root</a:t>
            </a:r>
            <a:r>
              <a:rPr lang="en-IN" sz="1800" dirty="0">
                <a:solidFill>
                  <a:srgbClr val="8250DF"/>
                </a:solidFill>
                <a:latin typeface="Consolas" panose="020B0609020204030204" pitchFamily="49" charset="0"/>
              </a:rPr>
              <a:t>-&gt;</a:t>
            </a:r>
            <a:r>
              <a:rPr lang="en-IN" sz="1800" dirty="0" err="1">
                <a:solidFill>
                  <a:srgbClr val="8250DF"/>
                </a:solidFill>
                <a:latin typeface="Consolas" panose="020B0609020204030204" pitchFamily="49" charset="0"/>
              </a:rPr>
              <a:t>name,root</a:t>
            </a:r>
            <a:r>
              <a:rPr lang="en-IN" sz="1800" dirty="0">
                <a:solidFill>
                  <a:srgbClr val="8250DF"/>
                </a:solidFill>
                <a:latin typeface="Consolas" panose="020B0609020204030204" pitchFamily="49" charset="0"/>
              </a:rPr>
              <a:t>-&gt;phone);</a:t>
            </a:r>
            <a:endParaRPr lang="en-IN" sz="1800" dirty="0">
              <a:solidFill>
                <a:srgbClr val="1F2328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1F2328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8250DF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solidFill>
                  <a:srgbClr val="953800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-&gt;right);</a:t>
            </a:r>
            <a:endParaRPr lang="en-IN" sz="1800" b="0" dirty="0">
              <a:solidFill>
                <a:srgbClr val="20202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B1285B-57FC-5D90-7DCC-9F406BDD89F0}"/>
              </a:ext>
            </a:extLst>
          </p:cNvPr>
          <p:cNvSpPr/>
          <p:nvPr/>
        </p:nvSpPr>
        <p:spPr>
          <a:xfrm>
            <a:off x="92483" y="876142"/>
            <a:ext cx="11756022" cy="17255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C8C8E2-53F7-D138-4F2E-1EA17E17B87B}"/>
              </a:ext>
            </a:extLst>
          </p:cNvPr>
          <p:cNvSpPr/>
          <p:nvPr/>
        </p:nvSpPr>
        <p:spPr>
          <a:xfrm>
            <a:off x="92483" y="2766628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AD932A-CD31-F5DF-2B35-C096ACBC7064}"/>
              </a:ext>
            </a:extLst>
          </p:cNvPr>
          <p:cNvSpPr/>
          <p:nvPr/>
        </p:nvSpPr>
        <p:spPr>
          <a:xfrm>
            <a:off x="92483" y="3951514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53A55B-57E4-B5A0-6E07-AAD64D5655A9}"/>
              </a:ext>
            </a:extLst>
          </p:cNvPr>
          <p:cNvSpPr/>
          <p:nvPr/>
        </p:nvSpPr>
        <p:spPr>
          <a:xfrm>
            <a:off x="92483" y="5143796"/>
            <a:ext cx="11756022" cy="11086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5516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8A22D-6FB4-23C9-1C73-69914E4C1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2B5FF42-90DA-5825-A9D2-C20AA78C12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Printing entries in ascending order of name(</a:t>
            </a:r>
            <a:r>
              <a:rPr lang="en-US" dirty="0" err="1"/>
              <a:t>Inorder</a:t>
            </a:r>
            <a:r>
              <a:rPr lang="en-US" dirty="0"/>
              <a:t>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E1E5CA2-DB32-792C-DABA-E803AC1F7887}"/>
              </a:ext>
            </a:extLst>
          </p:cNvPr>
          <p:cNvCxnSpPr/>
          <p:nvPr/>
        </p:nvCxnSpPr>
        <p:spPr>
          <a:xfrm>
            <a:off x="5385047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D71D61-F6F4-97AE-3452-7399886C065B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B9A078-70EC-26C7-32BB-00047C104F4C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33B84EF-EBAB-91A6-0B78-16A0CBDCAF6B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06482A-96C7-7A4D-6AB6-35ACC80DF34A}"/>
              </a:ext>
            </a:extLst>
          </p:cNvPr>
          <p:cNvSpPr txBox="1"/>
          <p:nvPr/>
        </p:nvSpPr>
        <p:spPr>
          <a:xfrm>
            <a:off x="150656" y="2047988"/>
            <a:ext cx="3459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root = </a:t>
            </a: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99ABB6-AC53-575F-6F99-6A11860C8540}"/>
              </a:ext>
            </a:extLst>
          </p:cNvPr>
          <p:cNvSpPr txBox="1"/>
          <p:nvPr/>
        </p:nvSpPr>
        <p:spPr>
          <a:xfrm>
            <a:off x="155275" y="3441030"/>
            <a:ext cx="3459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951E17-0CAC-2D44-3B06-CDAD766CD2DF}"/>
              </a:ext>
            </a:extLst>
          </p:cNvPr>
          <p:cNvSpPr txBox="1"/>
          <p:nvPr/>
        </p:nvSpPr>
        <p:spPr>
          <a:xfrm>
            <a:off x="155275" y="4495953"/>
            <a:ext cx="295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378E123-295B-B63F-B8BB-EB43CC8B1D6B}"/>
              </a:ext>
            </a:extLst>
          </p:cNvPr>
          <p:cNvSpPr txBox="1"/>
          <p:nvPr/>
        </p:nvSpPr>
        <p:spPr>
          <a:xfrm>
            <a:off x="150656" y="5550876"/>
            <a:ext cx="35282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CCD82C-CAD4-2D41-65F5-438C30AD8FF7}"/>
              </a:ext>
            </a:extLst>
          </p:cNvPr>
          <p:cNvSpPr txBox="1"/>
          <p:nvPr/>
        </p:nvSpPr>
        <p:spPr>
          <a:xfrm>
            <a:off x="5385047" y="1684496"/>
            <a:ext cx="5924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inOrder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 ){</a:t>
            </a:r>
            <a:endParaRPr lang="en-IN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2F2D23-981F-FBC2-84B3-95CDE1FC2E3C}"/>
              </a:ext>
            </a:extLst>
          </p:cNvPr>
          <p:cNvSpPr txBox="1"/>
          <p:nvPr/>
        </p:nvSpPr>
        <p:spPr>
          <a:xfrm>
            <a:off x="6174722" y="2332680"/>
            <a:ext cx="261380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){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 NULL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54EFB6-1E4D-3AB7-E0E0-C6148C9FA5DF}"/>
              </a:ext>
            </a:extLst>
          </p:cNvPr>
          <p:cNvSpPr txBox="1"/>
          <p:nvPr/>
        </p:nvSpPr>
        <p:spPr>
          <a:xfrm>
            <a:off x="6174722" y="3644186"/>
            <a:ext cx="2719480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root-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0B00BF-EF6D-8933-AF8B-B53567B25887}"/>
              </a:ext>
            </a:extLst>
          </p:cNvPr>
          <p:cNvSpPr txBox="1"/>
          <p:nvPr/>
        </p:nvSpPr>
        <p:spPr>
          <a:xfrm>
            <a:off x="6174722" y="4617460"/>
            <a:ext cx="619376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("</a:t>
            </a:r>
            <a:r>
              <a:rPr lang="en-IN" sz="1800" dirty="0">
                <a:solidFill>
                  <a:srgbClr val="0070C0"/>
                </a:solidFill>
                <a:latin typeface="Consolas" panose="020B0609020204030204" pitchFamily="49" charset="0"/>
              </a:rPr>
              <a:t>Name: %s, Phone: %s\</a:t>
            </a:r>
            <a:r>
              <a:rPr lang="en-IN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n</a:t>
            </a:r>
            <a:r>
              <a:rPr lang="en-IN" sz="1800" dirty="0" err="1">
                <a:latin typeface="Consolas" panose="020B0609020204030204" pitchFamily="49" charset="0"/>
              </a:rPr>
              <a:t>",root</a:t>
            </a:r>
            <a:r>
              <a:rPr lang="en-IN" sz="1800" dirty="0">
                <a:latin typeface="Consolas" panose="020B0609020204030204" pitchFamily="49" charset="0"/>
              </a:rPr>
              <a:t>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dirty="0">
                <a:solidFill>
                  <a:srgbClr val="8250DF"/>
                </a:solidFill>
                <a:latin typeface="Consolas" panose="020B0609020204030204" pitchFamily="49" charset="0"/>
              </a:rPr>
              <a:t>	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phone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6CA67C-1A8F-9676-32F3-7F009AFFCEFF}"/>
              </a:ext>
            </a:extLst>
          </p:cNvPr>
          <p:cNvSpPr txBox="1"/>
          <p:nvPr/>
        </p:nvSpPr>
        <p:spPr>
          <a:xfrm>
            <a:off x="6174721" y="5748491"/>
            <a:ext cx="2889179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root-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DB5AAF7-74F5-35B4-5CB6-77BD1BA319D6}"/>
              </a:ext>
            </a:extLst>
          </p:cNvPr>
          <p:cNvSpPr/>
          <p:nvPr/>
        </p:nvSpPr>
        <p:spPr>
          <a:xfrm>
            <a:off x="150656" y="2098800"/>
            <a:ext cx="11477002" cy="11367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F6FC155-2881-97BA-4B56-7CE6417473F8}"/>
              </a:ext>
            </a:extLst>
          </p:cNvPr>
          <p:cNvSpPr/>
          <p:nvPr/>
        </p:nvSpPr>
        <p:spPr>
          <a:xfrm>
            <a:off x="150656" y="3483002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6F98B5-D8EC-A30F-3C63-79775F3A8635}"/>
              </a:ext>
            </a:extLst>
          </p:cNvPr>
          <p:cNvSpPr/>
          <p:nvPr/>
        </p:nvSpPr>
        <p:spPr>
          <a:xfrm>
            <a:off x="150656" y="4564399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004343F-ADC2-ECF8-4598-43FECBBEDB6B}"/>
              </a:ext>
            </a:extLst>
          </p:cNvPr>
          <p:cNvSpPr/>
          <p:nvPr/>
        </p:nvSpPr>
        <p:spPr>
          <a:xfrm>
            <a:off x="150656" y="5572683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0372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757D0-B445-8027-ED42-B73FC2370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17FFE1A-E9ED-C1B1-7A6A-67EF45E9670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Printing entries in descending order of name(Reverse </a:t>
            </a:r>
            <a:r>
              <a:rPr lang="en-US" dirty="0" err="1"/>
              <a:t>Inorder</a:t>
            </a:r>
            <a:r>
              <a:rPr lang="en-US" dirty="0"/>
              <a:t>)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1F37B9D-C1C9-6C9D-B6A2-79AF9BBF75F1}"/>
              </a:ext>
            </a:extLst>
          </p:cNvPr>
          <p:cNvCxnSpPr/>
          <p:nvPr/>
        </p:nvCxnSpPr>
        <p:spPr>
          <a:xfrm>
            <a:off x="5385047" y="711201"/>
            <a:ext cx="0" cy="5886152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0DF271E-C725-CFF8-255D-32488DAA8591}"/>
              </a:ext>
            </a:extLst>
          </p:cNvPr>
          <p:cNvSpPr txBox="1"/>
          <p:nvPr/>
        </p:nvSpPr>
        <p:spPr>
          <a:xfrm>
            <a:off x="847678" y="795771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Algorithm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39BC32-F739-4ED4-2BC5-15142E219E21}"/>
              </a:ext>
            </a:extLst>
          </p:cNvPr>
          <p:cNvSpPr txBox="1"/>
          <p:nvPr/>
        </p:nvSpPr>
        <p:spPr>
          <a:xfrm>
            <a:off x="6902711" y="795771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/>
                </a:solidFill>
              </a:rPr>
              <a:t>C Function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1D53C2-1648-AE8A-835F-44AAB22DFD08}"/>
              </a:ext>
            </a:extLst>
          </p:cNvPr>
          <p:cNvCxnSpPr/>
          <p:nvPr/>
        </p:nvCxnSpPr>
        <p:spPr>
          <a:xfrm>
            <a:off x="0" y="1230594"/>
            <a:ext cx="121920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E1762A-8732-F678-5249-BF34C565D193}"/>
              </a:ext>
            </a:extLst>
          </p:cNvPr>
          <p:cNvSpPr txBox="1"/>
          <p:nvPr/>
        </p:nvSpPr>
        <p:spPr>
          <a:xfrm>
            <a:off x="150656" y="2047988"/>
            <a:ext cx="34591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[Check for Empty Tree]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latin typeface="Consolas" panose="020B0609020204030204" pitchFamily="49" charset="0"/>
              </a:rPr>
              <a:t> root = </a:t>
            </a: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NULL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THEN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dirty="0"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Return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45E7ED-473E-A3AE-CD94-CFA9F42A89B9}"/>
              </a:ext>
            </a:extLst>
          </p:cNvPr>
          <p:cNvSpPr txBox="1"/>
          <p:nvPr/>
        </p:nvSpPr>
        <p:spPr>
          <a:xfrm>
            <a:off x="155275" y="3441030"/>
            <a:ext cx="34591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[Process Left Subtree]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right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C8199-2CBE-6E94-3E33-B8C18DA7EFEA}"/>
              </a:ext>
            </a:extLst>
          </p:cNvPr>
          <p:cNvSpPr txBox="1"/>
          <p:nvPr/>
        </p:nvSpPr>
        <p:spPr>
          <a:xfrm>
            <a:off x="155275" y="4495953"/>
            <a:ext cx="29502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[Visit the Root]</a:t>
            </a:r>
          </a:p>
          <a:p>
            <a:pPr marL="0" indent="0">
              <a:buNone/>
            </a:pPr>
            <a:r>
              <a:rPr lang="en-IN" dirty="0">
                <a:solidFill>
                  <a:srgbClr val="002060"/>
                </a:solidFill>
                <a:latin typeface="Consolas" panose="020B0609020204030204" pitchFamily="49" charset="0"/>
              </a:rPr>
              <a:t>Write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data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55896E-68E0-A953-975D-C570A452F489}"/>
              </a:ext>
            </a:extLst>
          </p:cNvPr>
          <p:cNvSpPr txBox="1"/>
          <p:nvPr/>
        </p:nvSpPr>
        <p:spPr>
          <a:xfrm>
            <a:off x="150656" y="5550876"/>
            <a:ext cx="352820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[Process Right Subtree]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2060"/>
                </a:solidFill>
                <a:latin typeface="Consolas" panose="020B0609020204030204" pitchFamily="49" charset="0"/>
              </a:rPr>
              <a:t>inOrder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solidFill>
                  <a:srgbClr val="C00000"/>
                </a:solidFill>
                <a:latin typeface="Consolas" panose="020B0609020204030204" pitchFamily="49" charset="0"/>
              </a:rPr>
              <a:t>left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chemeClr val="tx2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A4C44F-26B0-0B6F-C45D-ABCD8A72E331}"/>
              </a:ext>
            </a:extLst>
          </p:cNvPr>
          <p:cNvSpPr txBox="1"/>
          <p:nvPr/>
        </p:nvSpPr>
        <p:spPr>
          <a:xfrm>
            <a:off x="5385047" y="1684496"/>
            <a:ext cx="592418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</a:t>
            </a:r>
            <a:r>
              <a:rPr lang="en-IN" sz="16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inOrder</a:t>
            </a:r>
            <a:r>
              <a:rPr lang="en-IN" sz="1600" dirty="0"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70C0"/>
                </a:solidFill>
                <a:latin typeface="Consolas" panose="020B0609020204030204" pitchFamily="49" charset="0"/>
              </a:rPr>
              <a:t>struct</a:t>
            </a:r>
            <a:r>
              <a:rPr lang="en-IN" sz="1600" dirty="0"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chemeClr val="accent4"/>
                </a:solidFill>
                <a:latin typeface="Consolas" panose="020B0609020204030204" pitchFamily="49" charset="0"/>
              </a:rPr>
              <a:t>TreeNode</a:t>
            </a:r>
            <a:r>
              <a:rPr lang="en-IN" sz="1600" dirty="0">
                <a:latin typeface="Consolas" panose="020B0609020204030204" pitchFamily="49" charset="0"/>
              </a:rPr>
              <a:t>* root ){</a:t>
            </a:r>
            <a:endParaRPr lang="en-IN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B0E2354-4AE1-37C7-0125-9FD884238463}"/>
              </a:ext>
            </a:extLst>
          </p:cNvPr>
          <p:cNvSpPr txBox="1"/>
          <p:nvPr/>
        </p:nvSpPr>
        <p:spPr>
          <a:xfrm>
            <a:off x="6174722" y="2332680"/>
            <a:ext cx="2613802" cy="9002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buNone/>
            </a:pP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if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(</a:t>
            </a:r>
            <a:r>
              <a:rPr lang="en-IN" dirty="0">
                <a:latin typeface="Consolas" panose="020B0609020204030204" pitchFamily="49" charset="0"/>
              </a:rPr>
              <a:t>root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0000"/>
                </a:solidFill>
                <a:latin typeface="Consolas" panose="020B0609020204030204" pitchFamily="49" charset="0"/>
              </a:rPr>
              <a:t>==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){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  <a:buNone/>
            </a:pPr>
            <a:r>
              <a:rPr lang="en-IN" dirty="0">
                <a:solidFill>
                  <a:srgbClr val="AF00DB"/>
                </a:solidFill>
                <a:latin typeface="Consolas" panose="020B0609020204030204" pitchFamily="49" charset="0"/>
              </a:rPr>
              <a:t>    </a:t>
            </a:r>
            <a:r>
              <a:rPr lang="en-IN" dirty="0">
                <a:solidFill>
                  <a:srgbClr val="0070C0"/>
                </a:solidFill>
                <a:latin typeface="Consolas" panose="020B0609020204030204" pitchFamily="49" charset="0"/>
              </a:rPr>
              <a:t>Return NULL</a:t>
            </a: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;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  <a:p>
            <a:pPr>
              <a:lnSpc>
                <a:spcPts val="2100"/>
              </a:lnSpc>
            </a:pPr>
            <a:r>
              <a:rPr lang="en-IN" dirty="0">
                <a:solidFill>
                  <a:srgbClr val="1F2328"/>
                </a:solidFill>
                <a:latin typeface="Consolas" panose="020B0609020204030204" pitchFamily="49" charset="0"/>
              </a:rPr>
              <a:t>}</a:t>
            </a:r>
            <a:endParaRPr lang="en-IN" dirty="0">
              <a:solidFill>
                <a:srgbClr val="202020"/>
              </a:solidFill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39C3E9-13CE-1DDE-3F5B-F202AFED7885}"/>
              </a:ext>
            </a:extLst>
          </p:cNvPr>
          <p:cNvSpPr txBox="1"/>
          <p:nvPr/>
        </p:nvSpPr>
        <p:spPr>
          <a:xfrm>
            <a:off x="6174721" y="3644186"/>
            <a:ext cx="2889175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root-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 err="1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rigth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4B2E532-5A50-C50D-4BC2-3AB301E2195F}"/>
              </a:ext>
            </a:extLst>
          </p:cNvPr>
          <p:cNvSpPr txBox="1"/>
          <p:nvPr/>
        </p:nvSpPr>
        <p:spPr>
          <a:xfrm>
            <a:off x="6174722" y="4617460"/>
            <a:ext cx="6193766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printf</a:t>
            </a:r>
            <a:r>
              <a:rPr lang="en-IN" sz="1800" dirty="0">
                <a:latin typeface="Consolas" panose="020B0609020204030204" pitchFamily="49" charset="0"/>
              </a:rPr>
              <a:t>("</a:t>
            </a:r>
            <a:r>
              <a:rPr lang="en-IN" sz="1800" dirty="0">
                <a:solidFill>
                  <a:srgbClr val="0070C0"/>
                </a:solidFill>
                <a:latin typeface="Consolas" panose="020B0609020204030204" pitchFamily="49" charset="0"/>
              </a:rPr>
              <a:t>Name: %s, Phone: %s\</a:t>
            </a:r>
            <a:r>
              <a:rPr lang="en-IN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n</a:t>
            </a:r>
            <a:r>
              <a:rPr lang="en-IN" sz="1800" dirty="0" err="1">
                <a:latin typeface="Consolas" panose="020B0609020204030204" pitchFamily="49" charset="0"/>
              </a:rPr>
              <a:t>",root</a:t>
            </a:r>
            <a:r>
              <a:rPr lang="en-IN" sz="1800" dirty="0">
                <a:latin typeface="Consolas" panose="020B0609020204030204" pitchFamily="49" charset="0"/>
              </a:rPr>
              <a:t>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name</a:t>
            </a:r>
            <a:r>
              <a:rPr lang="en-IN" sz="1800" dirty="0">
                <a:latin typeface="Consolas" panose="020B0609020204030204" pitchFamily="49" charset="0"/>
              </a:rPr>
              <a:t>,</a:t>
            </a:r>
          </a:p>
          <a:p>
            <a:pPr marL="0" indent="0">
              <a:lnSpc>
                <a:spcPts val="2100"/>
              </a:lnSpc>
              <a:buNone/>
            </a:pPr>
            <a:r>
              <a:rPr lang="en-IN" dirty="0">
                <a:solidFill>
                  <a:srgbClr val="8250DF"/>
                </a:solidFill>
                <a:latin typeface="Consolas" panose="020B0609020204030204" pitchFamily="49" charset="0"/>
              </a:rPr>
              <a:t>	</a:t>
            </a:r>
            <a:r>
              <a:rPr lang="en-IN" sz="1800" dirty="0">
                <a:latin typeface="Consolas" panose="020B0609020204030204" pitchFamily="49" charset="0"/>
              </a:rPr>
              <a:t>root-&gt;</a:t>
            </a:r>
            <a:r>
              <a:rPr lang="en-IN" sz="1800" dirty="0">
                <a:solidFill>
                  <a:srgbClr val="C00000"/>
                </a:solidFill>
                <a:latin typeface="Consolas" panose="020B0609020204030204" pitchFamily="49" charset="0"/>
              </a:rPr>
              <a:t>phone</a:t>
            </a:r>
            <a:r>
              <a:rPr lang="en-IN" sz="1800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5B2FDB-6EE1-B541-8CC0-27C8950DD19D}"/>
              </a:ext>
            </a:extLst>
          </p:cNvPr>
          <p:cNvSpPr txBox="1"/>
          <p:nvPr/>
        </p:nvSpPr>
        <p:spPr>
          <a:xfrm>
            <a:off x="6174721" y="5748491"/>
            <a:ext cx="2889179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2100"/>
              </a:lnSpc>
              <a:buNone/>
            </a:pPr>
            <a:r>
              <a:rPr lang="en-IN" sz="1800" b="0" dirty="0" err="1">
                <a:solidFill>
                  <a:srgbClr val="BC770B"/>
                </a:solidFill>
                <a:effectLst/>
                <a:latin typeface="Consolas" panose="020B0609020204030204" pitchFamily="49" charset="0"/>
              </a:rPr>
              <a:t>inOrder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1800" b="0" dirty="0">
                <a:effectLst/>
                <a:latin typeface="Consolas" panose="020B0609020204030204" pitchFamily="49" charset="0"/>
              </a:rPr>
              <a:t>root-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IN" sz="1800" b="0" dirty="0">
                <a:solidFill>
                  <a:srgbClr val="C00000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IN" sz="1800" b="0" dirty="0">
                <a:solidFill>
                  <a:srgbClr val="1F2328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3EA725D-3C8C-D279-BAB6-3A18A6AABECC}"/>
              </a:ext>
            </a:extLst>
          </p:cNvPr>
          <p:cNvSpPr/>
          <p:nvPr/>
        </p:nvSpPr>
        <p:spPr>
          <a:xfrm>
            <a:off x="150656" y="2098800"/>
            <a:ext cx="11477002" cy="113679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C964C3B-1093-335C-E903-340C11A4DBE7}"/>
              </a:ext>
            </a:extLst>
          </p:cNvPr>
          <p:cNvSpPr/>
          <p:nvPr/>
        </p:nvSpPr>
        <p:spPr>
          <a:xfrm>
            <a:off x="150656" y="3483002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122244A-7619-F872-845E-2AABB51257EC}"/>
              </a:ext>
            </a:extLst>
          </p:cNvPr>
          <p:cNvSpPr/>
          <p:nvPr/>
        </p:nvSpPr>
        <p:spPr>
          <a:xfrm>
            <a:off x="150656" y="4564399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7682AC8-E56F-3C37-F35D-9CB0737D7124}"/>
              </a:ext>
            </a:extLst>
          </p:cNvPr>
          <p:cNvSpPr/>
          <p:nvPr/>
        </p:nvSpPr>
        <p:spPr>
          <a:xfrm>
            <a:off x="150656" y="5572683"/>
            <a:ext cx="11477002" cy="684003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11672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pradyuman.jadeja@darshan.ac.in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+91 9879461848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</a:t>
            </a:r>
            <a:r>
              <a:rPr lang="en-IN" dirty="0" err="1"/>
              <a:t>Pradyumansinh</a:t>
            </a:r>
            <a:r>
              <a:rPr lang="en-IN" dirty="0"/>
              <a:t> </a:t>
            </a:r>
            <a:r>
              <a:rPr lang="en-IN" dirty="0" err="1"/>
              <a:t>Jadeja</a:t>
            </a:r>
            <a:endParaRPr lang="en-IN" dirty="0"/>
          </a:p>
        </p:txBody>
      </p:sp>
      <p:sp>
        <p:nvSpPr>
          <p:cNvPr id="9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Data Structures </a:t>
            </a:r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(DS)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DU #2301CS301</a:t>
            </a:r>
          </a:p>
        </p:txBody>
      </p:sp>
      <p:pic>
        <p:nvPicPr>
          <p:cNvPr id="7" name="Picture Placeholder 6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02529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eptPPT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6541</TotalTime>
  <Words>1662</Words>
  <Application>Microsoft Office PowerPoint</Application>
  <PresentationFormat>Widescreen</PresentationFormat>
  <Paragraphs>358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Consolas</vt:lpstr>
      <vt:lpstr>Roboto Condensed</vt:lpstr>
      <vt:lpstr>Roboto Condensed Light</vt:lpstr>
      <vt:lpstr>Calibri</vt:lpstr>
      <vt:lpstr>Cascadia Mono</vt:lpstr>
      <vt:lpstr>Wingdings 3</vt:lpstr>
      <vt:lpstr>Arial</vt:lpstr>
      <vt:lpstr>Wingdings</vt:lpstr>
      <vt:lpstr>Office Theme</vt:lpstr>
      <vt:lpstr>Tree Lab 21 Data Structure</vt:lpstr>
      <vt:lpstr>Basic knowledge of BST</vt:lpstr>
      <vt:lpstr>TreeNode Structure</vt:lpstr>
      <vt:lpstr>Create Entry</vt:lpstr>
      <vt:lpstr>Insert in Phonebook</vt:lpstr>
      <vt:lpstr>Insert in Phonebook(continued)</vt:lpstr>
      <vt:lpstr>Delete entry from Phonebook</vt:lpstr>
      <vt:lpstr>Delete entry from Phonebook(continued)</vt:lpstr>
      <vt:lpstr>Delete entry from Phonebook(continued)</vt:lpstr>
      <vt:lpstr>Delete entry from Phonebook(continued)</vt:lpstr>
      <vt:lpstr>Get Inorder Successor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 List - Linear Data Structure</dc:title>
  <dc:creator>ADMIN</dc:creator>
  <cp:keywords>Linked List, Data Structure, Darshan Institute of Engineering &amp; Technology, DIET</cp:keywords>
  <cp:lastModifiedBy>Dhruv Limbasiya</cp:lastModifiedBy>
  <cp:revision>1086</cp:revision>
  <dcterms:created xsi:type="dcterms:W3CDTF">2020-05-01T05:09:15Z</dcterms:created>
  <dcterms:modified xsi:type="dcterms:W3CDTF">2026-08-21T15:38:00Z</dcterms:modified>
</cp:coreProperties>
</file>